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147470489" r:id="rId2"/>
    <p:sldId id="2147470492" r:id="rId3"/>
    <p:sldId id="2147470493" r:id="rId4"/>
    <p:sldId id="2147470487" r:id="rId5"/>
    <p:sldId id="2147470506" r:id="rId19"/>
    <p:sldId id="2147470505" r:id="rId18"/>
    <p:sldId id="2147470504" r:id="rId17"/>
    <p:sldId id="2147470494" r:id="rId6"/>
    <p:sldId id="2147470501" r:id="rId7"/>
    <p:sldId id="2147470507" r:id="rId20"/>
    <p:sldId id="2147470498" r:id="rId8"/>
    <p:sldId id="2147470497" r:id="rId9"/>
    <p:sldId id="2147470508" r:id="rId21"/>
    <p:sldId id="2147470499" r:id="rId10"/>
    <p:sldId id="2147470502" r:id="rId11"/>
    <p:sldId id="2147470503"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5B9ED"/>
    <a:srgbClr val="47BDAE"/>
    <a:srgbClr val="30BBDA"/>
    <a:srgbClr val="47BDAF"/>
    <a:srgbClr val="696969"/>
    <a:srgbClr val="1C4D98"/>
    <a:srgbClr val="8BC431"/>
    <a:srgbClr val="97B6BA"/>
    <a:srgbClr val="24A8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212" y="16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7.xml"/><Relationship Id="rId18" Type="http://schemas.openxmlformats.org/officeDocument/2006/relationships/slide" Target="slides/slide6.xml"/><Relationship Id="rId19" Type="http://schemas.openxmlformats.org/officeDocument/2006/relationships/slide" Target="slides/slide5.xml"/><Relationship Id="rId20" Type="http://schemas.openxmlformats.org/officeDocument/2006/relationships/slide" Target="slides/slide10.xml"/><Relationship Id="rId21"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3864"/>
                </a:solidFill>
              </a:rPr>
              <a:t>Billed vs recommended payable by line (₹ lakh)</a:t>
            </a:r>
          </a:p>
        </c:rich>
      </c:tx>
      <c:layout/>
      <c:overlay val="0"/>
    </c:title>
    <c:autoTitleDeleted val="0"/>
    <c:plotArea>
      <c:barChart>
        <c:barDir val="col"/>
        <c:grouping val="clustered"/>
        <c:ser>
          <c:idx val="0"/>
          <c:order val="0"/>
          <c:tx>
            <c:strRef>
              <c:f>Sheet1!$B$1</c:f>
              <c:strCache>
                <c:ptCount val="1"/>
                <c:pt idx="0">
                  <c:v>Billed (₹ lakh)</c:v>
                </c:pt>
              </c:strCache>
            </c:strRef>
          </c:tx>
          <c:spPr>
            <a:solidFill>
              <a:srgbClr val="2E75B6"/>
            </a:solidFill>
          </c:spPr>
          <c:cat>
            <c:strRef>
              <c:f>Sheet1!$A$2:$A$5</c:f>
              <c:strCache>
                <c:ptCount val="4"/>
                <c:pt idx="0">
                  <c:v>Health (22)</c:v>
                </c:pt>
                <c:pt idx="1">
                  <c:v>Motor (11)</c:v>
                </c:pt>
                <c:pt idx="2">
                  <c:v>Home (11)</c:v>
                </c:pt>
                <c:pt idx="3">
                  <c:v>Travel (14)</c:v>
                </c:pt>
              </c:strCache>
            </c:strRef>
          </c:cat>
          <c:val>
            <c:numRef>
              <c:f>Sheet1!$B$2:$B$5</c:f>
              <c:numCache>
                <c:formatCode>General</c:formatCode>
                <c:ptCount val="4"/>
                <c:pt idx="0">
                  <c:v>22.4</c:v>
                </c:pt>
                <c:pt idx="1">
                  <c:v>6.81</c:v>
                </c:pt>
                <c:pt idx="2">
                  <c:v>29.43</c:v>
                </c:pt>
                <c:pt idx="3">
                  <c:v>29.1</c:v>
                </c:pt>
              </c:numCache>
            </c:numRef>
          </c:val>
        </c:ser>
        <c:ser>
          <c:idx val="1"/>
          <c:order val="1"/>
          <c:tx>
            <c:strRef>
              <c:f>Sheet1!$C$1</c:f>
              <c:strCache>
                <c:ptCount val="1"/>
                <c:pt idx="0">
                  <c:v>Payable (₹ lakh)</c:v>
                </c:pt>
              </c:strCache>
            </c:strRef>
          </c:tx>
          <c:spPr>
            <a:solidFill>
              <a:srgbClr val="548235"/>
            </a:solidFill>
          </c:spPr>
          <c:cat>
            <c:strRef>
              <c:f>Sheet1!$A$2:$A$5</c:f>
              <c:strCache>
                <c:ptCount val="4"/>
                <c:pt idx="0">
                  <c:v>Health (22)</c:v>
                </c:pt>
                <c:pt idx="1">
                  <c:v>Motor (11)</c:v>
                </c:pt>
                <c:pt idx="2">
                  <c:v>Home (11)</c:v>
                </c:pt>
                <c:pt idx="3">
                  <c:v>Travel (14)</c:v>
                </c:pt>
              </c:strCache>
            </c:strRef>
          </c:cat>
          <c:val>
            <c:numRef>
              <c:f>Sheet1!$C$2:$C$5</c:f>
              <c:numCache>
                <c:formatCode>General</c:formatCode>
                <c:ptCount val="4"/>
                <c:pt idx="0">
                  <c:v>12.55</c:v>
                </c:pt>
                <c:pt idx="1">
                  <c:v>3.04</c:v>
                </c:pt>
                <c:pt idx="2">
                  <c:v>19.01</c:v>
                </c:pt>
                <c:pt idx="3">
                  <c:v>19.45</c:v>
                </c:pt>
              </c:numCache>
            </c:numRef>
          </c:val>
        </c:ser>
        <c:dLbls>
          <c:numFmt formatCode="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majorTickMark val="out"/>
        <c:minorTickMark val="none"/>
        <c:tickLblPos val="nextTo"/>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F4D17B-9B25-2D63-E389-71163BD2C8E7}"/>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FC4ED1-FB42-4A6C-B292-B8C58946A85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535A630-145D-4232-9865-98341E30F7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70836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837F2-3C53-43E6-9F25-242D13C5ABD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D302C3C5-9B28-493B-9422-74FF4AE1808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70436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9B68FAD-9CFA-CBF0-4B37-9944C2E932A1}"/>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D4B6E2-CC70-4366-ABC8-87480CC35BD1}"/>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0D34EE-ED80-45A7-B964-53ED80D946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43303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CD6-D227-4C30-8364-6F161FA122F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E5DC3054-5604-4679-AF7D-07BF06BE01A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47BA85-32D5-4EA3-9F8B-5A8B9251743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9612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F33A1-3BE5-4F1B-8E70-08225490223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E4C4CAE0-72F2-4F22-A85A-772E3DA044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EDE67E9-F76F-4049-98D4-82E9E7C800E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332A94-E906-4159-9FE4-E63CFAE0BE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16D1AA-A642-4FEB-91F0-3F506A2AE8F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93630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BF108-6EC2-4592-9D33-716E6B1ACF9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826736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7387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AB71-FC15-4C88-A99B-0D66CDCEEF5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369B3E-A4BB-45D7-ABB7-1E151F04FE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FD4C72-B215-468A-8722-23007428B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1694330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2731-906B-40B4-86D3-CD7878598D2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1042F1-26FD-477E-A079-62384AA43E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C52E8FE-8F89-4D08-8341-786A0381BB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738541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B0375-D926-48D9-8605-813B1B64E6F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8D7657-21CC-45AA-A2CE-92653962FC4C}"/>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93649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A09EBA-4206-40BF-81B1-742CF8BD5BA1}"/>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BB8BE7B-6EB1-4B41-A25B-B41833E5B2B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1384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255996" y="1271219"/>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
        <p:nvSpPr>
          <p:cNvPr id="4" name="Text Placeholder 13">
            <a:extLst>
              <a:ext uri="{FF2B5EF4-FFF2-40B4-BE49-F238E27FC236}">
                <a16:creationId xmlns:a16="http://schemas.microsoft.com/office/drawing/2014/main" id="{06C9D6B8-9A00-34FD-3E41-E67F07F278E4}"/>
              </a:ext>
            </a:extLst>
          </p:cNvPr>
          <p:cNvSpPr>
            <a:spLocks noGrp="1"/>
          </p:cNvSpPr>
          <p:nvPr>
            <p:ph type="body" sz="quarter" idx="15" hasCustomPrompt="1"/>
          </p:nvPr>
        </p:nvSpPr>
        <p:spPr>
          <a:xfrm>
            <a:off x="255996" y="629525"/>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36477356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173803" y="469835"/>
            <a:ext cx="11672300" cy="650048"/>
          </a:xfrm>
        </p:spPr>
        <p:txBody>
          <a:bodyPr vert="horz" lIns="91440" tIns="45720" rIns="91440" bIns="45720" rtlCol="0">
            <a:noAutofit/>
          </a:bodyPr>
          <a:lstStyle>
            <a:lvl1pPr>
              <a:defRPr lang="en-US" sz="3200" b="1" kern="1200" dirty="0">
                <a:solidFill>
                  <a:srgbClr val="595959"/>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24435425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png"/><Relationship Id="rId17" Type="http://schemas.microsoft.com/office/2007/relationships/hdphoto" Target="../media/hdphoto1.wdp"/><Relationship Id="rId18" Type="http://schemas.openxmlformats.org/officeDocument/2006/relationships/image" Target="../media/image3.png"/><Relationship Id="rId19"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2D087FE-85BE-5152-9EB5-3B57AE38DD48}"/>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 y="5337544"/>
            <a:ext cx="12191994" cy="1548307"/>
          </a:xfrm>
          <a:prstGeom prst="rect">
            <a:avLst/>
          </a:prstGeom>
        </p:spPr>
      </p:pic>
      <p:sp>
        <p:nvSpPr>
          <p:cNvPr id="7" name="Rectangle 6">
            <a:extLst>
              <a:ext uri="{FF2B5EF4-FFF2-40B4-BE49-F238E27FC236}">
                <a16:creationId xmlns:a16="http://schemas.microsoft.com/office/drawing/2014/main" id="{8EFA70D2-ADBF-0DD4-D7D1-F37201867E99}"/>
              </a:ext>
            </a:extLst>
          </p:cNvPr>
          <p:cNvSpPr/>
          <p:nvPr userDrawn="1"/>
        </p:nvSpPr>
        <p:spPr>
          <a:xfrm>
            <a:off x="0" y="0"/>
            <a:ext cx="12192000" cy="365125"/>
          </a:xfrm>
          <a:prstGeom prst="rect">
            <a:avLst/>
          </a:prstGeom>
          <a:gradFill>
            <a:gsLst>
              <a:gs pos="5000">
                <a:srgbClr val="47BDAE"/>
              </a:gs>
              <a:gs pos="59000">
                <a:srgbClr val="25B9ED"/>
              </a:gs>
              <a:gs pos="100000">
                <a:srgbClr val="FFFF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2000" b="1" i="1" dirty="0">
              <a:solidFill>
                <a:schemeClr val="bg1">
                  <a:lumMod val="75000"/>
                </a:schemeClr>
              </a:solidFill>
            </a:endParaRPr>
          </a:p>
        </p:txBody>
      </p:sp>
      <p:sp>
        <p:nvSpPr>
          <p:cNvPr id="3" name="Text Placeholder 2">
            <a:extLst>
              <a:ext uri="{FF2B5EF4-FFF2-40B4-BE49-F238E27FC236}">
                <a16:creationId xmlns:a16="http://schemas.microsoft.com/office/drawing/2014/main" id="{F8BC08DB-FBED-4A43-AE4B-B2CE371FE61E}"/>
              </a:ext>
            </a:extLst>
          </p:cNvPr>
          <p:cNvSpPr>
            <a:spLocks noGrp="1"/>
          </p:cNvSpPr>
          <p:nvPr>
            <p:ph type="body" idx="1"/>
          </p:nvPr>
        </p:nvSpPr>
        <p:spPr>
          <a:xfrm>
            <a:off x="677271" y="1191757"/>
            <a:ext cx="11004446" cy="479500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28" name="Picture 4" descr="LTIMindtree logo in transparent PNG and vectorized SVG formats">
            <a:extLst>
              <a:ext uri="{FF2B5EF4-FFF2-40B4-BE49-F238E27FC236}">
                <a16:creationId xmlns:a16="http://schemas.microsoft.com/office/drawing/2014/main" id="{21F70453-17DB-04F6-290A-DCDEF9FDE02E}"/>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saturation sat="400000"/>
                    </a14:imgEffect>
                    <a14:imgEffect>
                      <a14:brightnessContrast bright="-20000"/>
                    </a14:imgEffect>
                  </a14:imgLayer>
                </a14:imgProps>
              </a:ext>
              <a:ext uri="{28A0092B-C50C-407E-A947-70E740481C1C}">
                <a14:useLocalDpi xmlns:a14="http://schemas.microsoft.com/office/drawing/2010/main" val="0"/>
              </a:ext>
            </a:extLst>
          </a:blip>
          <a:srcRect/>
          <a:stretch>
            <a:fillRect/>
          </a:stretch>
        </p:blipFill>
        <p:spPr bwMode="auto">
          <a:xfrm>
            <a:off x="10545387" y="6562429"/>
            <a:ext cx="1541059" cy="295571"/>
          </a:xfrm>
          <a:prstGeom prst="rect">
            <a:avLst/>
          </a:prstGeom>
          <a:noFill/>
        </p:spPr>
      </p:pic>
      <p:sp>
        <p:nvSpPr>
          <p:cNvPr id="6" name="Title Placeholder 1">
            <a:extLst>
              <a:ext uri="{FF2B5EF4-FFF2-40B4-BE49-F238E27FC236}">
                <a16:creationId xmlns:a16="http://schemas.microsoft.com/office/drawing/2014/main" id="{DBDE3A73-7407-B3B5-0BC2-D13C973D143A}"/>
              </a:ext>
            </a:extLst>
          </p:cNvPr>
          <p:cNvSpPr txBox="1">
            <a:spLocks/>
          </p:cNvSpPr>
          <p:nvPr userDrawn="1"/>
        </p:nvSpPr>
        <p:spPr>
          <a:xfrm>
            <a:off x="221274" y="88514"/>
            <a:ext cx="8176583" cy="110324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dirty="0"/>
          </a:p>
        </p:txBody>
      </p:sp>
      <p:sp>
        <p:nvSpPr>
          <p:cNvPr id="11" name="Text Placeholder 2">
            <a:extLst>
              <a:ext uri="{FF2B5EF4-FFF2-40B4-BE49-F238E27FC236}">
                <a16:creationId xmlns:a16="http://schemas.microsoft.com/office/drawing/2014/main" id="{70A0B4C8-C250-76C3-01DB-D728F6B32656}"/>
              </a:ext>
            </a:extLst>
          </p:cNvPr>
          <p:cNvSpPr txBox="1">
            <a:spLocks/>
          </p:cNvSpPr>
          <p:nvPr userDrawn="1"/>
        </p:nvSpPr>
        <p:spPr>
          <a:xfrm>
            <a:off x="391411" y="640135"/>
            <a:ext cx="11290305" cy="5237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latin typeface="Calibri (Body)"/>
            </a:endParaRPr>
          </a:p>
        </p:txBody>
      </p:sp>
      <p:sp>
        <p:nvSpPr>
          <p:cNvPr id="12" name="Text Placeholder 2">
            <a:extLst>
              <a:ext uri="{FF2B5EF4-FFF2-40B4-BE49-F238E27FC236}">
                <a16:creationId xmlns:a16="http://schemas.microsoft.com/office/drawing/2014/main" id="{349D7A90-F0A3-C216-D67E-9B86D1BECDF5}"/>
              </a:ext>
            </a:extLst>
          </p:cNvPr>
          <p:cNvSpPr txBox="1">
            <a:spLocks/>
          </p:cNvSpPr>
          <p:nvPr userDrawn="1"/>
        </p:nvSpPr>
        <p:spPr>
          <a:xfrm>
            <a:off x="158720" y="413891"/>
            <a:ext cx="10025576" cy="6859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pic>
        <p:nvPicPr>
          <p:cNvPr id="13" name="Picture 12">
            <a:extLst>
              <a:ext uri="{FF2B5EF4-FFF2-40B4-BE49-F238E27FC236}">
                <a16:creationId xmlns:a16="http://schemas.microsoft.com/office/drawing/2014/main" id="{383075D7-F006-A81F-68F1-A5F218FAF004}"/>
              </a:ext>
            </a:extLst>
          </p:cNvPr>
          <p:cNvPicPr>
            <a:picLocks noChangeAspect="1"/>
          </p:cNvPicPr>
          <p:nvPr userDrawn="1"/>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105554" y="6358271"/>
            <a:ext cx="964436" cy="411216"/>
          </a:xfrm>
          <a:prstGeom prst="rect">
            <a:avLst/>
          </a:prstGeom>
        </p:spPr>
      </p:pic>
    </p:spTree>
    <p:extLst>
      <p:ext uri="{BB962C8B-B14F-4D97-AF65-F5344CB8AC3E}">
        <p14:creationId xmlns:p14="http://schemas.microsoft.com/office/powerpoint/2010/main" val="26804827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5.png"/><Relationship Id="rId4" Type="http://schemas.microsoft.com/office/2007/relationships/hdphoto" Target="../media/hdphoto3.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D30BC0-07A3-DCDA-0D0B-DD40C2178A62}"/>
              </a:ext>
            </a:extLst>
          </p:cNvPr>
          <p:cNvSpPr/>
          <p:nvPr/>
        </p:nvSpPr>
        <p:spPr>
          <a:xfrm>
            <a:off x="-31269" y="29737"/>
            <a:ext cx="12254538" cy="6868389"/>
          </a:xfrm>
          <a:prstGeom prst="rect">
            <a:avLst/>
          </a:prstGeom>
          <a:gradFill>
            <a:gsLst>
              <a:gs pos="0">
                <a:srgbClr val="47BDAF"/>
              </a:gs>
              <a:gs pos="100000">
                <a:srgbClr val="3793A6"/>
              </a:gs>
              <a:gs pos="39000">
                <a:srgbClr val="1C4D98"/>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utiger LT Pro 45 Light" panose="020B0403030504020204" pitchFamily="34" charset="0"/>
              <a:ea typeface="+mn-ea"/>
              <a:cs typeface="+mn-cs"/>
            </a:endParaRPr>
          </a:p>
        </p:txBody>
      </p:sp>
      <p:sp>
        <p:nvSpPr>
          <p:cNvPr id="14" name="Text Placeholder 1">
            <a:extLst>
              <a:ext uri="{FF2B5EF4-FFF2-40B4-BE49-F238E27FC236}">
                <a16:creationId xmlns:a16="http://schemas.microsoft.com/office/drawing/2014/main" id="{0741E81D-922F-23FE-07A9-320FA2B27E3A}"/>
              </a:ext>
            </a:extLst>
          </p:cNvPr>
          <p:cNvSpPr>
            <a:spLocks noGrp="1"/>
          </p:cNvSpPr>
          <p:nvPr>
            <p:ph type="body" sz="quarter" idx="13"/>
          </p:nvPr>
        </p:nvSpPr>
        <p:spPr>
          <a:xfrm>
            <a:off x="2289635" y="17705"/>
            <a:ext cx="6910121" cy="1058125"/>
          </a:xfrm>
        </p:spPr>
        <p:txBody>
          <a:bodyPr/>
          <a:lstStyle/>
          <a:p>
            <a:pPr marL="0" indent="0" algn="ctr">
              <a:buNone/>
            </a:pPr>
            <a:r>
              <a:rPr lang="en-US" sz="4400" dirty="0">
                <a:solidFill>
                  <a:schemeClr val="bg1"/>
                </a:solidFill>
              </a:rPr>
              <a:t>M.Tech/MCA Program </a:t>
            </a:r>
          </a:p>
          <a:p>
            <a:pPr marL="0" indent="0" algn="ctr">
              <a:buNone/>
            </a:pPr>
            <a:r>
              <a:rPr lang="en-US" sz="2000" dirty="0">
                <a:solidFill>
                  <a:schemeClr val="bg1"/>
                </a:solidFill>
              </a:rPr>
              <a:t>Advanced Industry Integrated Programs</a:t>
            </a:r>
          </a:p>
        </p:txBody>
      </p:sp>
      <p:cxnSp>
        <p:nvCxnSpPr>
          <p:cNvPr id="15" name="Straight Connector 14">
            <a:extLst>
              <a:ext uri="{FF2B5EF4-FFF2-40B4-BE49-F238E27FC236}">
                <a16:creationId xmlns:a16="http://schemas.microsoft.com/office/drawing/2014/main" id="{ED19DFA2-C55E-F4D5-C53A-B5ECEB442DC1}"/>
              </a:ext>
            </a:extLst>
          </p:cNvPr>
          <p:cNvCxnSpPr/>
          <p:nvPr/>
        </p:nvCxnSpPr>
        <p:spPr>
          <a:xfrm>
            <a:off x="2977350" y="1120307"/>
            <a:ext cx="586622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41AA452C-B3E6-7A79-FD46-04E813851A85}"/>
              </a:ext>
            </a:extLst>
          </p:cNvPr>
          <p:cNvSpPr/>
          <p:nvPr/>
        </p:nvSpPr>
        <p:spPr>
          <a:xfrm>
            <a:off x="4125951" y="1177578"/>
            <a:ext cx="3033131" cy="286036"/>
          </a:xfrm>
          <a:prstGeom prst="roundRect">
            <a:avLst/>
          </a:prstGeom>
          <a:solidFill>
            <a:schemeClr val="accent6">
              <a:lumMod val="20000"/>
              <a:lumOff val="80000"/>
            </a:schemeClr>
          </a:solidFill>
        </p:spPr>
        <p:txBody>
          <a:bodyPr wrap="square">
            <a:spAutoFit/>
          </a:body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en-US" sz="1200" b="0" i="0" u="none" strike="noStrike" kern="1200" cap="none" spc="0" normalizeH="0" baseline="0" noProof="0" dirty="0">
                <a:ln>
                  <a:noFill/>
                </a:ln>
                <a:solidFill>
                  <a:srgbClr val="595959"/>
                </a:solidFill>
                <a:effectLst/>
                <a:uLnTx/>
                <a:uFillTx/>
                <a:latin typeface="Frutiger 45 bold"/>
                <a:ea typeface="+mn-ea"/>
                <a:cs typeface="Calibri" panose="020F0502020204030204" pitchFamily="34" charset="0"/>
              </a:rPr>
              <a:t>Jointly offered by University and LTIMindTree</a:t>
            </a:r>
          </a:p>
        </p:txBody>
      </p:sp>
      <p:sp>
        <p:nvSpPr>
          <p:cNvPr id="4" name="TextBox 3">
            <a:extLst>
              <a:ext uri="{FF2B5EF4-FFF2-40B4-BE49-F238E27FC236}">
                <a16:creationId xmlns:a16="http://schemas.microsoft.com/office/drawing/2014/main" id="{598A8852-79FE-2D69-0530-D7712358063B}"/>
              </a:ext>
            </a:extLst>
          </p:cNvPr>
          <p:cNvSpPr txBox="1"/>
          <p:nvPr/>
        </p:nvSpPr>
        <p:spPr>
          <a:xfrm>
            <a:off x="1097280" y="1659822"/>
            <a:ext cx="9994392" cy="526297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600" b="1" dirty="0">
                <a:solidFill>
                  <a:prstClr val="white"/>
                </a:solidFill>
                <a:cs typeface="Calibri" panose="020F0502020204030204" pitchFamily="34" charset="0"/>
              </a:rPr>
              <a:t>Review III</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b="1" dirty="0">
                <a:solidFill>
                  <a:prstClr val="white"/>
                </a:solidFill>
                <a:cs typeface="Calibri" panose="020F0502020204030204" pitchFamily="34" charset="0"/>
              </a:rPr>
              <a:t>Claim Sense</a:t>
            </a:r>
          </a:p>
          <a:p>
            <a:pPr lvl="0" algn="ctr">
              <a:defRPr/>
            </a:pPr>
            <a:r>
              <a:rPr lang="en-US" sz="2800" b="1" dirty="0">
                <a:solidFill>
                  <a:prstClr val="white"/>
                </a:solidFill>
                <a:latin typeface="Calibri"/>
                <a:cs typeface="Calibri" panose="020F0502020204030204" pitchFamily="34" charset="0"/>
              </a:rPr>
              <a:t>RAG-Based Insurance Claims Adjudication &amp; Policy Knowledge Assistant</a:t>
            </a:r>
            <a:endParaRPr lang="en-US" sz="3600" b="1" dirty="0">
              <a:solidFill>
                <a:prstClr val="white"/>
              </a:solidFill>
              <a:cs typeface="Calibri" panose="020F0502020204030204" pitchFamily="34" charset="0"/>
            </a:endParaRPr>
          </a:p>
          <a:p>
            <a:pPr lvl="0" algn="ctr">
              <a:defRPr/>
            </a:pPr>
            <a:endParaRPr kumimoji="0" lang="en-US" sz="16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a:p>
            <a:pPr lvl="0" algn="ctr">
              <a:defRPr/>
            </a:pPr>
            <a:r>
              <a:rPr lang="en-US" sz="2600" b="1" dirty="0">
                <a:solidFill>
                  <a:prstClr val="white"/>
                </a:solidFill>
                <a:cs typeface="Calibri" panose="020F0502020204030204" pitchFamily="34" charset="0"/>
              </a:rPr>
              <a:t>S.K. Sricharan</a:t>
            </a:r>
          </a:p>
          <a:p>
            <a:pPr algn="ctr">
              <a:defRPr/>
            </a:pPr>
            <a:r>
              <a:rPr lang="en-US" sz="2400" b="1" dirty="0">
                <a:solidFill>
                  <a:prstClr val="white"/>
                </a:solidFill>
                <a:cs typeface="Calibri" panose="020F0502020204030204" pitchFamily="34" charset="0"/>
              </a:rPr>
              <a:t>T-SERIES ID: T9984</a:t>
            </a:r>
          </a:p>
        </p:txBody>
      </p:sp>
      <p:graphicFrame>
        <p:nvGraphicFramePr>
          <p:cNvPr id="3" name="Table 2">
            <a:extLst>
              <a:ext uri="{FF2B5EF4-FFF2-40B4-BE49-F238E27FC236}">
                <a16:creationId xmlns:a16="http://schemas.microsoft.com/office/drawing/2014/main" id="{0E7F5D19-19F4-F87F-17C2-8520612BCFEC}"/>
              </a:ext>
            </a:extLst>
          </p:cNvPr>
          <p:cNvGraphicFramePr>
            <a:graphicFrameLocks noGrp="1"/>
          </p:cNvGraphicFramePr>
          <p:nvPr/>
        </p:nvGraphicFramePr>
        <p:xfrm>
          <a:off x="-47290" y="5501244"/>
          <a:ext cx="12239216" cy="3264833"/>
        </p:xfrm>
        <a:graphic>
          <a:graphicData uri="http://schemas.openxmlformats.org/drawingml/2006/table">
            <a:tbl>
              <a:tblPr firstRow="1" bandRow="1">
                <a:tableStyleId>{5940675A-B579-460E-94D1-54222C63F5DA}</a:tableStyleId>
              </a:tblPr>
              <a:tblGrid>
                <a:gridCol w="6119608">
                  <a:extLst>
                    <a:ext uri="{9D8B030D-6E8A-4147-A177-3AD203B41FA5}">
                      <a16:colId xmlns:a16="http://schemas.microsoft.com/office/drawing/2014/main" val="586572480"/>
                    </a:ext>
                  </a:extLst>
                </a:gridCol>
                <a:gridCol w="6119608">
                  <a:extLst>
                    <a:ext uri="{9D8B030D-6E8A-4147-A177-3AD203B41FA5}">
                      <a16:colId xmlns:a16="http://schemas.microsoft.com/office/drawing/2014/main" val="157907922"/>
                    </a:ext>
                  </a:extLst>
                </a:gridCol>
              </a:tblGrid>
              <a:tr h="15274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Knowledge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                                                                     Implementation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33668230"/>
                  </a:ext>
                </a:extLst>
              </a:tr>
              <a:tr h="1184198">
                <a:tc>
                  <a:txBody>
                    <a:bodyPr/>
                    <a:lstStyle/>
                    <a:p>
                      <a:endParaRPr lang="en-US" dirty="0"/>
                    </a:p>
                    <a:p>
                      <a:endParaRPr lang="en-US" dirty="0"/>
                    </a:p>
                    <a:p>
                      <a:endParaRPr lang="en-US" dirty="0"/>
                    </a:p>
                    <a:p>
                      <a:endParaRPr lang="en-US" dirty="0"/>
                    </a:p>
                    <a:p>
                      <a:endParaRPr lang="en-US" dirty="0"/>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6263768"/>
                  </a:ext>
                </a:extLst>
              </a:tr>
            </a:tbl>
          </a:graphicData>
        </a:graphic>
      </p:graphicFrame>
      <p:pic>
        <p:nvPicPr>
          <p:cNvPr id="8" name="Picture 7">
            <a:extLst>
              <a:ext uri="{FF2B5EF4-FFF2-40B4-BE49-F238E27FC236}">
                <a16:creationId xmlns:a16="http://schemas.microsoft.com/office/drawing/2014/main" id="{2715C658-0B94-5B63-55F1-B9B6F645F0D0}"/>
              </a:ext>
            </a:extLst>
          </p:cNvPr>
          <p:cNvPicPr>
            <a:picLocks noChangeAspect="1"/>
          </p:cNvPicPr>
          <p:nvPr/>
        </p:nvPicPr>
        <p:blipFill>
          <a:blip r:embed="rId2"/>
          <a:stretch>
            <a:fillRect/>
          </a:stretch>
        </p:blipFill>
        <p:spPr>
          <a:xfrm>
            <a:off x="9775332" y="5852667"/>
            <a:ext cx="1987468" cy="847417"/>
          </a:xfrm>
          <a:prstGeom prst="rect">
            <a:avLst/>
          </a:prstGeom>
        </p:spPr>
      </p:pic>
      <p:pic>
        <p:nvPicPr>
          <p:cNvPr id="9" name="Picture 2" descr="LTIMindtree - Technology Consulting and Digital Solutions Company">
            <a:extLst>
              <a:ext uri="{FF2B5EF4-FFF2-40B4-BE49-F238E27FC236}">
                <a16:creationId xmlns:a16="http://schemas.microsoft.com/office/drawing/2014/main" id="{B3D78849-E5F7-1DB2-227F-14244586123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0" y="5852667"/>
            <a:ext cx="3886489" cy="8648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507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8EFD-13D1-118F-A8E4-F9E2D3695A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B4E3812-AF2F-9DD8-6ECF-C3425146B38F}"/>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Introduction</a:t>
            </a:r>
          </a:p>
        </p:txBody>
      </p:sp>
      <p:cxnSp>
        <p:nvCxnSpPr>
          <p:cNvPr id="5" name="Straight Connector 4">
            <a:extLst>
              <a:ext uri="{FF2B5EF4-FFF2-40B4-BE49-F238E27FC236}">
                <a16:creationId xmlns:a16="http://schemas.microsoft.com/office/drawing/2014/main" id="{A295426A-3395-FE92-30C7-C8A6AC62DE62}"/>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D91B1D4-191E-E882-BD37-9FBAED57B57F}"/>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Intro text"/>
          <p:cNvSpPr txBox="1"/>
          <p:nvPr/>
        </p:nvSpPr>
        <p:spPr>
          <a:xfrm>
            <a:off x="320040" y="1371600"/>
            <a:ext cx="6675120" cy="4754880"/>
          </a:xfrm>
          <a:prstGeom prst="rect">
            <a:avLst/>
          </a:prstGeom>
          <a:noFill/>
        </p:spPr>
        <p:txBody>
          <a:bodyPr wrap="square" anchor="t" lIns="36576" rIns="36576" tIns="18288" bIns="18288">
            <a:spAutoFit/>
          </a:bodyPr>
          <a:lstStyle/>
          <a:p>
            <a:pPr algn="l">
              <a:spcAft>
                <a:spcPts val="400"/>
              </a:spcAft>
            </a:pPr>
            <a:r>
              <a:rPr sz="1800" b="1" i="0">
                <a:solidFill>
                  <a:srgbClr val="1F3864"/>
                </a:solidFill>
                <a:latin typeface="Calibri"/>
              </a:rPr>
              <a:t>Why claims adjudication needs help</a:t>
            </a:r>
          </a:p>
          <a:p>
            <a:pPr algn="l" marL="201168" indent="-201168">
              <a:spcAft>
                <a:spcPts val="500"/>
              </a:spcAft>
              <a:buChar char="•"/>
            </a:pPr>
            <a:r>
              <a:rPr sz="1500" b="0" i="0">
                <a:solidFill>
                  <a:srgbClr val="242424"/>
                </a:solidFill>
                <a:latin typeface="Calibri"/>
              </a:rPr>
              <a:t>Settling an insurance claim means reading the claim packet, finding the policy wording in force on the incident date, applying limits, waiting periods and exclusions, and working out the payable amount.</a:t>
            </a:r>
          </a:p>
          <a:p>
            <a:pPr algn="l" marL="201168" indent="-201168">
              <a:spcAft>
                <a:spcPts val="500"/>
              </a:spcAft>
              <a:buChar char="•"/>
            </a:pPr>
            <a:r>
              <a:rPr sz="1500" b="0" i="0">
                <a:solidFill>
                  <a:srgbClr val="242424"/>
                </a:solidFill>
                <a:latin typeface="Calibri"/>
              </a:rPr>
              <a:t>Done by hand this is slow and inconsistent, and a wrong rejection must be defended clause by clause.</a:t>
            </a:r>
          </a:p>
          <a:p>
            <a:pPr algn="l">
              <a:spcAft>
                <a:spcPts val="400"/>
              </a:spcAft>
            </a:pPr>
            <a:r>
              <a:rPr sz="1800" b="1" i="0">
                <a:solidFill>
                  <a:srgbClr val="1F3864"/>
                </a:solidFill>
                <a:latin typeface="Calibri"/>
              </a:rPr>
              <a:t>What Claim Sense does</a:t>
            </a:r>
          </a:p>
          <a:p>
            <a:pPr algn="l" marL="201168" indent="-201168">
              <a:spcAft>
                <a:spcPts val="500"/>
              </a:spcAft>
              <a:buChar char="•"/>
            </a:pPr>
            <a:r>
              <a:rPr sz="1500" b="0" i="0">
                <a:solidFill>
                  <a:srgbClr val="242424"/>
                </a:solidFill>
                <a:latin typeface="Calibri"/>
              </a:rPr>
              <a:t>AI agents read the documents and retrieve the exact policy clauses (Retrieval-Augmented Generation).</a:t>
            </a:r>
          </a:p>
          <a:p>
            <a:pPr algn="l" marL="201168" indent="-201168">
              <a:spcAft>
                <a:spcPts val="500"/>
              </a:spcAft>
              <a:buChar char="•"/>
            </a:pPr>
            <a:r>
              <a:rPr sz="1500" b="0" i="0">
                <a:solidFill>
                  <a:srgbClr val="242424"/>
                </a:solidFill>
                <a:latin typeface="Calibri"/>
              </a:rPr>
              <a:t>A deterministic rules engine calculates the payable amount in exact decimal arithmetic.</a:t>
            </a:r>
          </a:p>
          <a:p>
            <a:pPr algn="l" marL="201168" indent="-201168">
              <a:spcAft>
                <a:spcPts val="500"/>
              </a:spcAft>
              <a:buChar char="•"/>
            </a:pPr>
            <a:r>
              <a:rPr sz="1500" b="0" i="0">
                <a:solidFill>
                  <a:srgbClr val="242424"/>
                </a:solidFill>
                <a:latin typeface="Calibri"/>
              </a:rPr>
              <a:t>Every recommendation goes to a human reviewer, with the evidence and an audit trail.</a:t>
            </a:r>
          </a:p>
        </p:txBody>
      </p:sp>
      <p:sp>
        <p:nvSpPr>
          <p:cNvPr id="8" name="Intro stat 1"/>
          <p:cNvSpPr/>
          <p:nvPr/>
        </p:nvSpPr>
        <p:spPr>
          <a:xfrm>
            <a:off x="7315200" y="1417320"/>
            <a:ext cx="4526280"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7452360" y="1527048"/>
            <a:ext cx="1325880" cy="786384"/>
          </a:xfrm>
          <a:prstGeom prst="rect">
            <a:avLst/>
          </a:prstGeom>
          <a:noFill/>
        </p:spPr>
        <p:txBody>
          <a:bodyPr wrap="square" anchor="ctr" lIns="36576" rIns="36576" tIns="18288" bIns="18288">
            <a:spAutoFit/>
          </a:bodyPr>
          <a:lstStyle/>
          <a:p>
            <a:pPr algn="ctr">
              <a:spcAft>
                <a:spcPts val="0"/>
              </a:spcAft>
            </a:pPr>
            <a:r>
              <a:rPr sz="3400" b="1" i="0">
                <a:solidFill>
                  <a:srgbClr val="2E75B6"/>
                </a:solidFill>
                <a:latin typeface="Calibri"/>
              </a:rPr>
              <a:t>4</a:t>
            </a:r>
          </a:p>
        </p:txBody>
      </p:sp>
      <p:sp>
        <p:nvSpPr>
          <p:cNvPr id="10" name="TextBox 9"/>
          <p:cNvSpPr txBox="1"/>
          <p:nvPr/>
        </p:nvSpPr>
        <p:spPr>
          <a:xfrm>
            <a:off x="8823960" y="1527048"/>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lines of business: health, motor, home and travel</a:t>
            </a:r>
          </a:p>
        </p:txBody>
      </p:sp>
      <p:sp>
        <p:nvSpPr>
          <p:cNvPr id="11" name="Intro stat 2"/>
          <p:cNvSpPr/>
          <p:nvPr/>
        </p:nvSpPr>
        <p:spPr>
          <a:xfrm>
            <a:off x="7315200" y="2587752"/>
            <a:ext cx="4526280" cy="100584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TextBox 11"/>
          <p:cNvSpPr txBox="1"/>
          <p:nvPr/>
        </p:nvSpPr>
        <p:spPr>
          <a:xfrm>
            <a:off x="7452360" y="2697480"/>
            <a:ext cx="1325880" cy="786384"/>
          </a:xfrm>
          <a:prstGeom prst="rect">
            <a:avLst/>
          </a:prstGeom>
          <a:noFill/>
        </p:spPr>
        <p:txBody>
          <a:bodyPr wrap="square" anchor="ctr" lIns="36576" rIns="36576" tIns="18288" bIns="18288">
            <a:spAutoFit/>
          </a:bodyPr>
          <a:lstStyle/>
          <a:p>
            <a:pPr algn="ctr">
              <a:spcAft>
                <a:spcPts val="0"/>
              </a:spcAft>
            </a:pPr>
            <a:r>
              <a:rPr sz="3400" b="1" i="0">
                <a:solidFill>
                  <a:srgbClr val="548235"/>
                </a:solidFill>
                <a:latin typeface="Calibri"/>
              </a:rPr>
              <a:t>8</a:t>
            </a:r>
          </a:p>
        </p:txBody>
      </p:sp>
      <p:sp>
        <p:nvSpPr>
          <p:cNvPr id="13" name="TextBox 12"/>
          <p:cNvSpPr txBox="1"/>
          <p:nvPr/>
        </p:nvSpPr>
        <p:spPr>
          <a:xfrm>
            <a:off x="8823960" y="2697480"/>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specialised agents in one supervised pipeline</a:t>
            </a:r>
          </a:p>
        </p:txBody>
      </p:sp>
      <p:sp>
        <p:nvSpPr>
          <p:cNvPr id="14" name="Intro stat 3"/>
          <p:cNvSpPr/>
          <p:nvPr/>
        </p:nvSpPr>
        <p:spPr>
          <a:xfrm>
            <a:off x="7315200" y="3758184"/>
            <a:ext cx="4526280"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7452360" y="3867912"/>
            <a:ext cx="1325880" cy="786384"/>
          </a:xfrm>
          <a:prstGeom prst="rect">
            <a:avLst/>
          </a:prstGeom>
          <a:noFill/>
        </p:spPr>
        <p:txBody>
          <a:bodyPr wrap="square" anchor="ctr" lIns="36576" rIns="36576" tIns="18288" bIns="18288">
            <a:spAutoFit/>
          </a:bodyPr>
          <a:lstStyle/>
          <a:p>
            <a:pPr algn="ctr">
              <a:spcAft>
                <a:spcPts val="0"/>
              </a:spcAft>
            </a:pPr>
            <a:r>
              <a:rPr sz="3400" b="1" i="0">
                <a:solidFill>
                  <a:srgbClr val="2E75B6"/>
                </a:solidFill>
                <a:latin typeface="Calibri"/>
              </a:rPr>
              <a:t>58</a:t>
            </a:r>
          </a:p>
        </p:txBody>
      </p:sp>
      <p:sp>
        <p:nvSpPr>
          <p:cNvPr id="16" name="TextBox 15"/>
          <p:cNvSpPr txBox="1"/>
          <p:nvPr/>
        </p:nvSpPr>
        <p:spPr>
          <a:xfrm>
            <a:off x="8823960" y="3867912"/>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synthetic claims analysed end to end</a:t>
            </a:r>
          </a:p>
        </p:txBody>
      </p:sp>
      <p:sp>
        <p:nvSpPr>
          <p:cNvPr id="17" name="Intro stat 4"/>
          <p:cNvSpPr/>
          <p:nvPr/>
        </p:nvSpPr>
        <p:spPr>
          <a:xfrm>
            <a:off x="7315200" y="4928616"/>
            <a:ext cx="4526280" cy="100584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7452360" y="5038344"/>
            <a:ext cx="1325880" cy="786384"/>
          </a:xfrm>
          <a:prstGeom prst="rect">
            <a:avLst/>
          </a:prstGeom>
          <a:noFill/>
        </p:spPr>
        <p:txBody>
          <a:bodyPr wrap="square" anchor="ctr" lIns="36576" rIns="36576" tIns="18288" bIns="18288">
            <a:spAutoFit/>
          </a:bodyPr>
          <a:lstStyle/>
          <a:p>
            <a:pPr algn="ctr">
              <a:spcAft>
                <a:spcPts val="0"/>
              </a:spcAft>
            </a:pPr>
            <a:r>
              <a:rPr sz="2600" b="1" i="0">
                <a:solidFill>
                  <a:srgbClr val="548235"/>
                </a:solidFill>
                <a:latin typeface="Calibri"/>
              </a:rPr>
              <a:t>Live</a:t>
            </a:r>
          </a:p>
        </p:txBody>
      </p:sp>
      <p:sp>
        <p:nvSpPr>
          <p:cNvPr id="19" name="TextBox 18"/>
          <p:cNvSpPr txBox="1"/>
          <p:nvPr/>
        </p:nvSpPr>
        <p:spPr>
          <a:xfrm>
            <a:off x="8823960" y="5038344"/>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deployed at claim-sense.onrender.com</a:t>
            </a:r>
          </a:p>
        </p:txBody>
      </p:sp>
    </p:spTree>
    <p:extLst>
      <p:ext uri="{BB962C8B-B14F-4D97-AF65-F5344CB8AC3E}">
        <p14:creationId xmlns:p14="http://schemas.microsoft.com/office/powerpoint/2010/main" val="2088180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1235D-73A1-0B84-0745-6B97432CB0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FF40D3-B05A-88C3-591F-882A93FC9918}"/>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Objective</a:t>
            </a:r>
          </a:p>
        </p:txBody>
      </p:sp>
      <p:cxnSp>
        <p:nvCxnSpPr>
          <p:cNvPr id="5" name="Straight Connector 4">
            <a:extLst>
              <a:ext uri="{FF2B5EF4-FFF2-40B4-BE49-F238E27FC236}">
                <a16:creationId xmlns:a16="http://schemas.microsoft.com/office/drawing/2014/main" id="{12740D4D-2363-70E1-0E6E-1BDDA8C33C8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452DD5-D934-4955-F39B-2109AC72692F}"/>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Objective 1"/>
          <p:cNvSpPr/>
          <p:nvPr/>
        </p:nvSpPr>
        <p:spPr>
          <a:xfrm>
            <a:off x="320040" y="1463040"/>
            <a:ext cx="3063240" cy="21031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bjective 1 number"/>
          <p:cNvSpPr/>
          <p:nvPr/>
        </p:nvSpPr>
        <p:spPr>
          <a:xfrm>
            <a:off x="502920" y="1645920"/>
            <a:ext cx="502920" cy="5029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1</a:t>
            </a:r>
          </a:p>
        </p:txBody>
      </p:sp>
      <p:sp>
        <p:nvSpPr>
          <p:cNvPr id="9" name="TextBox 8"/>
          <p:cNvSpPr txBox="1"/>
          <p:nvPr/>
        </p:nvSpPr>
        <p:spPr>
          <a:xfrm>
            <a:off x="1143000" y="166420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Understand claim documents</a:t>
            </a:r>
          </a:p>
        </p:txBody>
      </p:sp>
      <p:sp>
        <p:nvSpPr>
          <p:cNvPr id="10" name="TextBox 9"/>
          <p:cNvSpPr txBox="1"/>
          <p:nvPr/>
        </p:nvSpPr>
        <p:spPr>
          <a:xfrm>
            <a:off x="502920" y="228600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Classify each uploaded document and extract facts with the file, line and confidence they came from.</a:t>
            </a:r>
          </a:p>
        </p:txBody>
      </p:sp>
      <p:sp>
        <p:nvSpPr>
          <p:cNvPr id="11" name="Objective 2"/>
          <p:cNvSpPr/>
          <p:nvPr/>
        </p:nvSpPr>
        <p:spPr>
          <a:xfrm>
            <a:off x="3566160" y="1463040"/>
            <a:ext cx="3063240" cy="2103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Objective 2 number"/>
          <p:cNvSpPr/>
          <p:nvPr/>
        </p:nvSpPr>
        <p:spPr>
          <a:xfrm>
            <a:off x="3749039" y="1645920"/>
            <a:ext cx="502920" cy="50292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2</a:t>
            </a:r>
          </a:p>
        </p:txBody>
      </p:sp>
      <p:sp>
        <p:nvSpPr>
          <p:cNvPr id="13" name="TextBox 12"/>
          <p:cNvSpPr txBox="1"/>
          <p:nvPr/>
        </p:nvSpPr>
        <p:spPr>
          <a:xfrm>
            <a:off x="4389120" y="166420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Ground decisions in policy text</a:t>
            </a:r>
          </a:p>
        </p:txBody>
      </p:sp>
      <p:sp>
        <p:nvSpPr>
          <p:cNvPr id="14" name="TextBox 13"/>
          <p:cNvSpPr txBox="1"/>
          <p:nvPr/>
        </p:nvSpPr>
        <p:spPr>
          <a:xfrm>
            <a:off x="3749039" y="228600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Retrieve the clause from the wording in force on the incident date, and cite it in every finding.</a:t>
            </a:r>
          </a:p>
        </p:txBody>
      </p:sp>
      <p:sp>
        <p:nvSpPr>
          <p:cNvPr id="15" name="Objective 3"/>
          <p:cNvSpPr/>
          <p:nvPr/>
        </p:nvSpPr>
        <p:spPr>
          <a:xfrm>
            <a:off x="6812279" y="1463040"/>
            <a:ext cx="3063240" cy="21031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Objective 3 number"/>
          <p:cNvSpPr/>
          <p:nvPr/>
        </p:nvSpPr>
        <p:spPr>
          <a:xfrm>
            <a:off x="6995159" y="1645920"/>
            <a:ext cx="502920" cy="5029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3</a:t>
            </a:r>
          </a:p>
        </p:txBody>
      </p:sp>
      <p:sp>
        <p:nvSpPr>
          <p:cNvPr id="17" name="TextBox 16"/>
          <p:cNvSpPr txBox="1"/>
          <p:nvPr/>
        </p:nvSpPr>
        <p:spPr>
          <a:xfrm>
            <a:off x="7635240" y="166420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Calculate exactly</a:t>
            </a:r>
          </a:p>
        </p:txBody>
      </p:sp>
      <p:sp>
        <p:nvSpPr>
          <p:cNvPr id="18" name="TextBox 17"/>
          <p:cNvSpPr txBox="1"/>
          <p:nvPr/>
        </p:nvSpPr>
        <p:spPr>
          <a:xfrm>
            <a:off x="6995159" y="228600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Compute payable amounts with a Decimal rules engine; an LLM never does financial arithmetic.</a:t>
            </a:r>
          </a:p>
        </p:txBody>
      </p:sp>
      <p:sp>
        <p:nvSpPr>
          <p:cNvPr id="19" name="Objective 4"/>
          <p:cNvSpPr/>
          <p:nvPr/>
        </p:nvSpPr>
        <p:spPr>
          <a:xfrm>
            <a:off x="2240280" y="3840480"/>
            <a:ext cx="3063240" cy="2103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Objective 4 number"/>
          <p:cNvSpPr/>
          <p:nvPr/>
        </p:nvSpPr>
        <p:spPr>
          <a:xfrm>
            <a:off x="2423160" y="4023360"/>
            <a:ext cx="502920" cy="50292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4</a:t>
            </a:r>
          </a:p>
        </p:txBody>
      </p:sp>
      <p:sp>
        <p:nvSpPr>
          <p:cNvPr id="21" name="TextBox 20"/>
          <p:cNvSpPr txBox="1"/>
          <p:nvPr/>
        </p:nvSpPr>
        <p:spPr>
          <a:xfrm>
            <a:off x="3063240" y="404164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Flag risk transparently</a:t>
            </a:r>
          </a:p>
        </p:txBody>
      </p:sp>
      <p:sp>
        <p:nvSpPr>
          <p:cNvPr id="22" name="TextBox 21"/>
          <p:cNvSpPr txBox="1"/>
          <p:nvPr/>
        </p:nvSpPr>
        <p:spPr>
          <a:xfrm>
            <a:off x="2423160" y="466344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Score fraud and risk with explainable rules: duplicates, early claims, amount mismatches, missing documents.</a:t>
            </a:r>
          </a:p>
        </p:txBody>
      </p:sp>
      <p:sp>
        <p:nvSpPr>
          <p:cNvPr id="23" name="Objective 5"/>
          <p:cNvSpPr/>
          <p:nvPr/>
        </p:nvSpPr>
        <p:spPr>
          <a:xfrm>
            <a:off x="5486400" y="3840480"/>
            <a:ext cx="3063240" cy="21031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Objective 5 number"/>
          <p:cNvSpPr/>
          <p:nvPr/>
        </p:nvSpPr>
        <p:spPr>
          <a:xfrm>
            <a:off x="5669280" y="4023360"/>
            <a:ext cx="502920" cy="5029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5</a:t>
            </a:r>
          </a:p>
        </p:txBody>
      </p:sp>
      <p:sp>
        <p:nvSpPr>
          <p:cNvPr id="25" name="TextBox 24"/>
          <p:cNvSpPr txBox="1"/>
          <p:nvPr/>
        </p:nvSpPr>
        <p:spPr>
          <a:xfrm>
            <a:off x="6309360" y="404164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Keep people in control</a:t>
            </a:r>
          </a:p>
        </p:txBody>
      </p:sp>
      <p:sp>
        <p:nvSpPr>
          <p:cNvPr id="26" name="TextBox 25"/>
          <p:cNvSpPr txBox="1"/>
          <p:nvPr/>
        </p:nvSpPr>
        <p:spPr>
          <a:xfrm>
            <a:off x="5669280" y="466344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Route every claim to a review queue; approval limits, reviewer notes and a complete audit trail.</a:t>
            </a:r>
          </a:p>
        </p:txBody>
      </p:sp>
      <p:sp>
        <p:nvSpPr>
          <p:cNvPr id="27" name="Objective 6"/>
          <p:cNvSpPr/>
          <p:nvPr/>
        </p:nvSpPr>
        <p:spPr>
          <a:xfrm>
            <a:off x="8732520" y="3840480"/>
            <a:ext cx="3063240" cy="2103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Objective 6 number"/>
          <p:cNvSpPr/>
          <p:nvPr/>
        </p:nvSpPr>
        <p:spPr>
          <a:xfrm>
            <a:off x="8915400" y="4023360"/>
            <a:ext cx="502920" cy="50292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6</a:t>
            </a:r>
          </a:p>
        </p:txBody>
      </p:sp>
      <p:sp>
        <p:nvSpPr>
          <p:cNvPr id="29" name="TextBox 28"/>
          <p:cNvSpPr txBox="1"/>
          <p:nvPr/>
        </p:nvSpPr>
        <p:spPr>
          <a:xfrm>
            <a:off x="9555480" y="404164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Prove it works</a:t>
            </a:r>
          </a:p>
        </p:txBody>
      </p:sp>
      <p:sp>
        <p:nvSpPr>
          <p:cNvPr id="30" name="TextBox 29"/>
          <p:cNvSpPr txBox="1"/>
          <p:nvPr/>
        </p:nvSpPr>
        <p:spPr>
          <a:xfrm>
            <a:off x="8915400" y="466344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Hand-worked golden evaluation, automated tests in CI, and checks against the live deployment.</a:t>
            </a:r>
          </a:p>
        </p:txBody>
      </p:sp>
    </p:spTree>
    <p:extLst>
      <p:ext uri="{BB962C8B-B14F-4D97-AF65-F5344CB8AC3E}">
        <p14:creationId xmlns:p14="http://schemas.microsoft.com/office/powerpoint/2010/main" val="1739450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1 - Document Intelligence &amp; Intake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From an uploaded claim packet to one consolidated claim view</a:t>
            </a:r>
          </a:p>
          <a:p>
            <a:pPr algn="l" marL="201168" indent="-201168">
              <a:spcAft>
                <a:spcPts val="800"/>
              </a:spcAft>
              <a:buChar char="•"/>
            </a:pPr>
            <a:r>
              <a:rPr sz="1600" b="0" i="0">
                <a:solidFill>
                  <a:srgbClr val="242424"/>
                </a:solidFill>
                <a:latin typeface="Calibri"/>
              </a:rPr>
              <a:t>Upload claim forms, bills, estimates and reports as text or PDF (page-preserving extraction with pypdf).</a:t>
            </a:r>
          </a:p>
          <a:p>
            <a:pPr algn="l" marL="201168" indent="-201168">
              <a:spcAft>
                <a:spcPts val="800"/>
              </a:spcAft>
              <a:buChar char="•"/>
            </a:pPr>
            <a:r>
              <a:rPr sz="1600" b="0" i="0">
                <a:solidFill>
                  <a:srgbClr val="242424"/>
                </a:solidFill>
                <a:latin typeface="Calibri"/>
              </a:rPr>
              <a:t>Each document is classified (11 types: discharge summary, repair estimate, surveyor loss assessment, airline report ...).</a:t>
            </a:r>
          </a:p>
          <a:p>
            <a:pPr algn="l" marL="201168" indent="-201168">
              <a:spcAft>
                <a:spcPts val="800"/>
              </a:spcAft>
              <a:buChar char="•"/>
            </a:pPr>
            <a:r>
              <a:rPr sz="1600" b="0" i="0">
                <a:solidFill>
                  <a:srgbClr val="242424"/>
                </a:solidFill>
                <a:latin typeface="Calibri"/>
              </a:rPr>
              <a:t>Facts are extracted with their source file, line and confidence; itemised charges are categorised per line of business.</a:t>
            </a:r>
          </a:p>
          <a:p>
            <a:pPr algn="l" marL="201168" indent="-201168">
              <a:spcAft>
                <a:spcPts val="800"/>
              </a:spcAft>
              <a:buChar char="•"/>
            </a:pPr>
            <a:r>
              <a:rPr sz="1600" b="0" i="0">
                <a:solidFill>
                  <a:srgbClr val="242424"/>
                </a:solidFill>
                <a:latin typeface="Calibri"/>
              </a:rPr>
              <a:t>Text addressed to an AI inside a document is flagged for the reviewer and never followed.</a:t>
            </a:r>
          </a:p>
          <a:p>
            <a:pPr algn="l" marL="201168" indent="-201168">
              <a:spcAft>
                <a:spcPts val="800"/>
              </a:spcAft>
              <a:buChar char="•"/>
            </a:pPr>
            <a:r>
              <a:rPr sz="1600" b="0" i="0">
                <a:solidFill>
                  <a:srgbClr val="242424"/>
                </a:solidFill>
                <a:latin typeface="Calibri"/>
              </a:rPr>
              <a:t>A reviewer can correct a fact with a reason; the next analysis uses it and the change is audited.</a:t>
            </a:r>
          </a:p>
        </p:txBody>
      </p:sp>
      <p:pic>
        <p:nvPicPr>
          <p:cNvPr id="20" name="Screenshot - Claim analysis screen: recommendation, amounts and evidence" descr="02-claim-analysis.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Claim analysis screen: recommendation, amounts and evidence</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2 - Policy RAG &amp; Knowledge Assistant</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Find the right clause in the right version, or refuse</a:t>
            </a:r>
          </a:p>
          <a:p>
            <a:pPr algn="l" marL="201168" indent="-201168">
              <a:spcAft>
                <a:spcPts val="800"/>
              </a:spcAft>
              <a:buChar char="•"/>
            </a:pPr>
            <a:r>
              <a:rPr sz="1600" b="0" i="0">
                <a:solidFill>
                  <a:srgbClr val="242424"/>
                </a:solidFill>
                <a:latin typeface="Calibri"/>
              </a:rPr>
              <a:t>Policy wordings (Markdown or PDF) are parsed into clause-level chunks keeping page, section and clause number.</a:t>
            </a:r>
          </a:p>
          <a:p>
            <a:pPr algn="l" marL="201168" indent="-201168">
              <a:spcAft>
                <a:spcPts val="800"/>
              </a:spcAft>
              <a:buChar char="•"/>
            </a:pPr>
            <a:r>
              <a:rPr sz="1600" b="0" i="0">
                <a:solidFill>
                  <a:srgbClr val="242424"/>
                </a:solidFill>
                <a:latin typeface="Calibri"/>
              </a:rPr>
              <a:t>The wording version in force on the incident date is matched first (e.g. HLT-SHIELD 2024.1 vs 2025.1).</a:t>
            </a:r>
          </a:p>
          <a:p>
            <a:pPr algn="l" marL="201168" indent="-201168">
              <a:spcAft>
                <a:spcPts val="800"/>
              </a:spcAft>
              <a:buChar char="•"/>
            </a:pPr>
            <a:r>
              <a:rPr sz="1600" b="0" i="0">
                <a:solidFill>
                  <a:srgbClr val="242424"/>
                </a:solidFill>
                <a:latin typeface="Calibri"/>
              </a:rPr>
              <a:t>Hybrid retrieval: BM25 on stemmed words + TF-IDF on character n-grams, fused by reciprocal rank, with an insurance synonym map.</a:t>
            </a:r>
          </a:p>
          <a:p>
            <a:pPr algn="l" marL="201168" indent="-201168">
              <a:spcAft>
                <a:spcPts val="800"/>
              </a:spcAft>
              <a:buChar char="•"/>
            </a:pPr>
            <a:r>
              <a:rPr sz="1600" b="0" i="0">
                <a:solidFill>
                  <a:srgbClr val="242424"/>
                </a:solidFill>
                <a:latin typeface="Calibri"/>
              </a:rPr>
              <a:t>The assistant answers only from retrieved clauses with citations, and refuses when evidence is too weak.</a:t>
            </a:r>
          </a:p>
          <a:p>
            <a:pPr algn="l" marL="201168" indent="-201168">
              <a:spcAft>
                <a:spcPts val="800"/>
              </a:spcAft>
              <a:buChar char="•"/>
            </a:pPr>
            <a:r>
              <a:rPr sz="1600" b="0" i="0">
                <a:solidFill>
                  <a:srgbClr val="242424"/>
                </a:solidFill>
                <a:latin typeface="Calibri"/>
              </a:rPr>
              <a:t>PDF ingestion pipeline: validation, SHA-256 duplicate check, extraction, clause parsing, indexing.</a:t>
            </a:r>
          </a:p>
        </p:txBody>
      </p:sp>
      <p:pic>
        <p:nvPicPr>
          <p:cNvPr id="20" name="Screenshot - Policy assistant: cited answer from the matched wording" descr="07-policy-assistant.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Policy assistant: cited answer from the matched wording</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3 - Deterministic Adjudication Engine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A cited, step-by-step payment waterfall in exact decimal arithmetic</a:t>
            </a:r>
          </a:p>
          <a:p>
            <a:pPr algn="l" marL="201168" indent="-201168">
              <a:spcAft>
                <a:spcPts val="800"/>
              </a:spcAft>
              <a:buChar char="•"/>
            </a:pPr>
            <a:r>
              <a:rPr sz="1600" b="0" i="0">
                <a:solidFill>
                  <a:srgbClr val="242424"/>
                </a:solidFill>
                <a:latin typeface="Calibri"/>
              </a:rPr>
              <a:t>Health: room and ICU per-day limits, non-payable consumables, deductible, co-payment, sum insured cap.</a:t>
            </a:r>
          </a:p>
          <a:p>
            <a:pPr algn="l" marL="201168" indent="-201168">
              <a:spcAft>
                <a:spcPts val="800"/>
              </a:spcAft>
              <a:buChar char="•"/>
            </a:pPr>
            <a:r>
              <a:rPr sz="1600" b="0" i="0">
                <a:solidFill>
                  <a:srgbClr val="242424"/>
                </a:solidFill>
                <a:latin typeface="Calibri"/>
              </a:rPr>
              <a:t>Motor: depreciation by part type and vehicle age, deductible by engine size, cap at the insured declared value.</a:t>
            </a:r>
          </a:p>
          <a:p>
            <a:pPr algn="l" marL="201168" indent="-201168">
              <a:spcAft>
                <a:spcPts val="800"/>
              </a:spcAft>
              <a:buChar char="•"/>
            </a:pPr>
            <a:r>
              <a:rPr sz="1600" b="0" i="0">
                <a:solidFill>
                  <a:srgbClr val="242424"/>
                </a:solidFill>
                <a:latin typeface="Calibri"/>
              </a:rPr>
              <a:t>Home: contents depreciation, the average clause for underinsurance (15% tolerance), excess.</a:t>
            </a:r>
          </a:p>
          <a:p>
            <a:pPr algn="l" marL="201168" indent="-201168">
              <a:spcAft>
                <a:spcPts val="800"/>
              </a:spcAft>
              <a:buChar char="•"/>
            </a:pPr>
            <a:r>
              <a:rPr sz="1600" b="0" i="0">
                <a:solidFill>
                  <a:srgbClr val="242424"/>
                </a:solidFill>
                <a:latin typeface="Calibri"/>
              </a:rPr>
              <a:t>Travel: per-item and per-benefit limits, personal comfort items excluded, deductible.</a:t>
            </a:r>
          </a:p>
          <a:p>
            <a:pPr algn="l" marL="201168" indent="-201168">
              <a:spcAft>
                <a:spcPts val="800"/>
              </a:spcAft>
              <a:buChar char="•"/>
            </a:pPr>
            <a:r>
              <a:rPr sz="1600" b="0" i="0">
                <a:solidFill>
                  <a:srgbClr val="242424"/>
                </a:solidFill>
                <a:latin typeface="Calibri"/>
              </a:rPr>
              <a:t>Every step (R10-R99) names the policy clause it applies; terms citing a missing clause are rejected at ingestion.</a:t>
            </a:r>
          </a:p>
        </p:txBody>
      </p:sp>
      <p:pic>
        <p:nvPicPr>
          <p:cNvPr id="20" name="Screenshot - Home claim waterfall with the average clause" descr="20-property-claim-adjudication.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Home claim waterfall with the average clause</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4 - Risk, Review &amp; Audit</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Explainable risk signals and a human decision on every claim</a:t>
            </a:r>
          </a:p>
          <a:p>
            <a:pPr algn="l" marL="201168" indent="-201168">
              <a:spcAft>
                <a:spcPts val="800"/>
              </a:spcAft>
              <a:buChar char="•"/>
            </a:pPr>
            <a:r>
              <a:rPr sz="1600" b="0" i="0">
                <a:solidFill>
                  <a:srgbClr val="242424"/>
                </a:solidFill>
                <a:latin typeface="Calibri"/>
              </a:rPr>
              <a:t>Rule-based risk score: duplicate, early claim, high amount ratio, amount mismatch, name mismatch, missing documents.</a:t>
            </a:r>
          </a:p>
          <a:p>
            <a:pPr algn="l" marL="201168" indent="-201168">
              <a:spcAft>
                <a:spcPts val="800"/>
              </a:spcAft>
              <a:buChar char="•"/>
            </a:pPr>
            <a:r>
              <a:rPr sz="1600" b="0" i="0">
                <a:solidFill>
                  <a:srgbClr val="242424"/>
                </a:solidFill>
                <a:latin typeface="Calibri"/>
              </a:rPr>
              <a:t>Recommendation: reject (cite clause), request information, investigate, partial approval or approve.</a:t>
            </a:r>
          </a:p>
          <a:p>
            <a:pPr algn="l" marL="201168" indent="-201168">
              <a:spcAft>
                <a:spcPts val="800"/>
              </a:spcAft>
              <a:buChar char="•"/>
            </a:pPr>
            <a:r>
              <a:rPr sz="1600" b="0" i="0">
                <a:solidFill>
                  <a:srgbClr val="242424"/>
                </a:solidFill>
                <a:latin typeface="Calibri"/>
              </a:rPr>
              <a:t>Routed to adjuster, supervisor, SIU investigation or pending-information queues with settlement-clock tracking.</a:t>
            </a:r>
          </a:p>
          <a:p>
            <a:pPr algn="l" marL="201168" indent="-201168">
              <a:spcAft>
                <a:spcPts val="800"/>
              </a:spcAft>
              <a:buChar char="•"/>
            </a:pPr>
            <a:r>
              <a:rPr sz="1600" b="0" i="0">
                <a:solidFill>
                  <a:srgbClr val="242424"/>
                </a:solidFill>
                <a:latin typeface="Calibri"/>
              </a:rPr>
              <a:t>Role-based access: approval limits, supervisor escalation, read-only auditors; adverse decisions need notes.</a:t>
            </a:r>
          </a:p>
          <a:p>
            <a:pPr algn="l" marL="201168" indent="-201168">
              <a:spcAft>
                <a:spcPts val="800"/>
              </a:spcAft>
              <a:buChar char="•"/>
            </a:pPr>
            <a:r>
              <a:rPr sz="1600" b="0" i="0">
                <a:solidFill>
                  <a:srgbClr val="242424"/>
                </a:solidFill>
                <a:latin typeface="Calibri"/>
              </a:rPr>
              <a:t>Settlement and repudiation letters, CSV export, dashboard and a full audit trail.</a:t>
            </a:r>
          </a:p>
        </p:txBody>
      </p:sp>
      <p:pic>
        <p:nvPicPr>
          <p:cNvPr id="20" name="Screenshot - Review queue with risk, age and assignee" descr="08-review-queue.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Review queue with risk, age and assignee</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2D7CD-C158-6FC1-06C7-09444D2DE0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15F4B8-EED0-F7BE-96C7-D7AAE989A251}"/>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Problem Statement</a:t>
            </a:r>
          </a:p>
        </p:txBody>
      </p:sp>
      <p:cxnSp>
        <p:nvCxnSpPr>
          <p:cNvPr id="5" name="Straight Connector 4">
            <a:extLst>
              <a:ext uri="{FF2B5EF4-FFF2-40B4-BE49-F238E27FC236}">
                <a16:creationId xmlns:a16="http://schemas.microsoft.com/office/drawing/2014/main" id="{5A882B44-FCE4-BF93-E951-46CF2238FB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CE164B1-01DD-BF3B-88E8-DF2DEDBFA9EB}"/>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Problem statement"/>
          <p:cNvSpPr/>
          <p:nvPr/>
        </p:nvSpPr>
        <p:spPr>
          <a:xfrm>
            <a:off x="320040" y="1417320"/>
            <a:ext cx="11521440" cy="12344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spcAft>
                <a:spcPts val="0"/>
              </a:spcAft>
            </a:pPr>
            <a:r>
              <a:rPr sz="1800" b="1" i="0">
                <a:solidFill>
                  <a:srgbClr val="1F3864"/>
                </a:solidFill>
                <a:latin typeface="Calibri"/>
              </a:rPr>
              <a:t>Build a claims decision-support system that reads a claim packet, finds the applicable clause in the policy version in force, calculates the payable amount exactly, flags risk, and hands a cited, auditable recommendation to a human who makes the decision.</a:t>
            </a:r>
          </a:p>
        </p:txBody>
      </p:sp>
      <p:sp>
        <p:nvSpPr>
          <p:cNvPr id="8" name="Pain point 1"/>
          <p:cNvSpPr/>
          <p:nvPr/>
        </p:nvSpPr>
        <p:spPr>
          <a:xfrm>
            <a:off x="2240280" y="29260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Pain icon 1"/>
          <p:cNvSpPr/>
          <p:nvPr/>
        </p:nvSpPr>
        <p:spPr>
          <a:xfrm>
            <a:off x="2404872" y="3108960"/>
            <a:ext cx="384048" cy="38404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10" name="TextBox 9"/>
          <p:cNvSpPr txBox="1"/>
          <p:nvPr/>
        </p:nvSpPr>
        <p:spPr>
          <a:xfrm>
            <a:off x="2926080" y="30632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Manual and slow</a:t>
            </a:r>
          </a:p>
        </p:txBody>
      </p:sp>
      <p:sp>
        <p:nvSpPr>
          <p:cNvPr id="11" name="TextBox 10"/>
          <p:cNvSpPr txBox="1"/>
          <p:nvPr/>
        </p:nvSpPr>
        <p:spPr>
          <a:xfrm>
            <a:off x="2926080" y="34930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Handlers cross-check documents against long wordings with versions, sub-limits, waiting periods and exclusions.</a:t>
            </a:r>
          </a:p>
        </p:txBody>
      </p:sp>
      <p:sp>
        <p:nvSpPr>
          <p:cNvPr id="12" name="Pain point 2"/>
          <p:cNvSpPr/>
          <p:nvPr/>
        </p:nvSpPr>
        <p:spPr>
          <a:xfrm>
            <a:off x="7086600" y="29260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Pain icon 2"/>
          <p:cNvSpPr/>
          <p:nvPr/>
        </p:nvSpPr>
        <p:spPr>
          <a:xfrm>
            <a:off x="7251192" y="3108960"/>
            <a:ext cx="384048" cy="38404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14" name="TextBox 13"/>
          <p:cNvSpPr txBox="1"/>
          <p:nvPr/>
        </p:nvSpPr>
        <p:spPr>
          <a:xfrm>
            <a:off x="7772400" y="30632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Inconsistent outcomes</a:t>
            </a:r>
          </a:p>
        </p:txBody>
      </p:sp>
      <p:sp>
        <p:nvSpPr>
          <p:cNvPr id="15" name="TextBox 14"/>
          <p:cNvSpPr txBox="1"/>
          <p:nvPr/>
        </p:nvSpPr>
        <p:spPr>
          <a:xfrm>
            <a:off x="7772400" y="34930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The same claim can be settled differently by different handlers; rejections are hard to defend.</a:t>
            </a:r>
          </a:p>
        </p:txBody>
      </p:sp>
      <p:sp>
        <p:nvSpPr>
          <p:cNvPr id="16" name="Pain point 3"/>
          <p:cNvSpPr/>
          <p:nvPr/>
        </p:nvSpPr>
        <p:spPr>
          <a:xfrm>
            <a:off x="2240280" y="45262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Pain icon 3"/>
          <p:cNvSpPr/>
          <p:nvPr/>
        </p:nvSpPr>
        <p:spPr>
          <a:xfrm>
            <a:off x="2404872" y="4709160"/>
            <a:ext cx="384048" cy="38404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18" name="TextBox 17"/>
          <p:cNvSpPr txBox="1"/>
          <p:nvPr/>
        </p:nvSpPr>
        <p:spPr>
          <a:xfrm>
            <a:off x="2926080" y="46634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LLMs alone are unsafe</a:t>
            </a:r>
          </a:p>
        </p:txBody>
      </p:sp>
      <p:sp>
        <p:nvSpPr>
          <p:cNvPr id="19" name="TextBox 18"/>
          <p:cNvSpPr txBox="1"/>
          <p:nvPr/>
        </p:nvSpPr>
        <p:spPr>
          <a:xfrm>
            <a:off x="2926080" y="50932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Generic chatbots invent clauses and do arithmetic unreliably: not acceptable for money or for regulators.</a:t>
            </a:r>
          </a:p>
        </p:txBody>
      </p:sp>
      <p:sp>
        <p:nvSpPr>
          <p:cNvPr id="20" name="Pain point 4"/>
          <p:cNvSpPr/>
          <p:nvPr/>
        </p:nvSpPr>
        <p:spPr>
          <a:xfrm>
            <a:off x="7086600" y="45262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Pain icon 4"/>
          <p:cNvSpPr/>
          <p:nvPr/>
        </p:nvSpPr>
        <p:spPr>
          <a:xfrm>
            <a:off x="7251192" y="4709160"/>
            <a:ext cx="384048" cy="38404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22" name="TextBox 21"/>
          <p:cNvSpPr txBox="1"/>
          <p:nvPr/>
        </p:nvSpPr>
        <p:spPr>
          <a:xfrm>
            <a:off x="7772400" y="46634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Fraud slips through</a:t>
            </a:r>
          </a:p>
        </p:txBody>
      </p:sp>
      <p:sp>
        <p:nvSpPr>
          <p:cNvPr id="23" name="TextBox 22"/>
          <p:cNvSpPr txBox="1"/>
          <p:nvPr/>
        </p:nvSpPr>
        <p:spPr>
          <a:xfrm>
            <a:off x="7772400" y="50932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Duplicates, early claims and mismatched amounts need systematic, explainable signals.</a:t>
            </a:r>
          </a:p>
        </p:txBody>
      </p:sp>
      <p:sp>
        <p:nvSpPr>
          <p:cNvPr id="24" name="Pain heading"/>
          <p:cNvSpPr txBox="1"/>
          <p:nvPr/>
        </p:nvSpPr>
        <p:spPr>
          <a:xfrm>
            <a:off x="320040" y="2971800"/>
            <a:ext cx="1783080" cy="2011680"/>
          </a:xfrm>
          <a:prstGeom prst="rect">
            <a:avLst/>
          </a:prstGeom>
          <a:noFill/>
        </p:spPr>
        <p:txBody>
          <a:bodyPr wrap="square" anchor="t" lIns="36576" rIns="36576" tIns="18288" bIns="18288">
            <a:spAutoFit/>
          </a:bodyPr>
          <a:lstStyle/>
          <a:p>
            <a:pPr algn="l">
              <a:spcAft>
                <a:spcPts val="400"/>
              </a:spcAft>
            </a:pPr>
            <a:r>
              <a:rPr sz="1800" b="1" i="0">
                <a:solidFill>
                  <a:srgbClr val="1F3864"/>
                </a:solidFill>
                <a:latin typeface="Calibri"/>
              </a:rPr>
              <a:t>Today's pain points</a:t>
            </a:r>
          </a:p>
          <a:p>
            <a:pPr algn="l">
              <a:spcAft>
                <a:spcPts val="600"/>
              </a:spcAft>
            </a:pPr>
            <a:r>
              <a:rPr sz="1300" b="0" i="0">
                <a:solidFill>
                  <a:srgbClr val="595959"/>
                </a:solidFill>
                <a:latin typeface="Calibri"/>
              </a:rPr>
              <a:t>Four gaps the project closes</a:t>
            </a:r>
          </a:p>
        </p:txBody>
      </p:sp>
    </p:spTree>
    <p:extLst>
      <p:ext uri="{BB962C8B-B14F-4D97-AF65-F5344CB8AC3E}">
        <p14:creationId xmlns:p14="http://schemas.microsoft.com/office/powerpoint/2010/main" val="2034681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3BE5C-251C-23E3-8F19-EE2DB3009E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ABB59C-76FD-5246-4EEE-72212BF64AE4}"/>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 - System Architecture</a:t>
            </a:r>
          </a:p>
        </p:txBody>
      </p:sp>
      <p:cxnSp>
        <p:nvCxnSpPr>
          <p:cNvPr id="5" name="Straight Connector 4">
            <a:extLst>
              <a:ext uri="{FF2B5EF4-FFF2-40B4-BE49-F238E27FC236}">
                <a16:creationId xmlns:a16="http://schemas.microsoft.com/office/drawing/2014/main" id="{04BC82A4-B382-2A00-3070-17B2B47F169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E73589-106E-E0B7-D90D-C7E75D0CB2B6}"/>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TextBox 6"/>
          <p:cNvSpPr txBox="1"/>
          <p:nvPr/>
        </p:nvSpPr>
        <p:spPr>
          <a:xfrm>
            <a:off x="274320" y="137160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Users</a:t>
            </a:r>
          </a:p>
        </p:txBody>
      </p:sp>
      <p:sp>
        <p:nvSpPr>
          <p:cNvPr id="8" name="TextBox 7"/>
          <p:cNvSpPr txBox="1"/>
          <p:nvPr/>
        </p:nvSpPr>
        <p:spPr>
          <a:xfrm>
            <a:off x="274320" y="214884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Presentation</a:t>
            </a:r>
          </a:p>
        </p:txBody>
      </p:sp>
      <p:sp>
        <p:nvSpPr>
          <p:cNvPr id="9" name="TextBox 8"/>
          <p:cNvSpPr txBox="1"/>
          <p:nvPr/>
        </p:nvSpPr>
        <p:spPr>
          <a:xfrm>
            <a:off x="274320" y="301752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API</a:t>
            </a:r>
          </a:p>
        </p:txBody>
      </p:sp>
      <p:sp>
        <p:nvSpPr>
          <p:cNvPr id="10" name="TextBox 9"/>
          <p:cNvSpPr txBox="1"/>
          <p:nvPr/>
        </p:nvSpPr>
        <p:spPr>
          <a:xfrm>
            <a:off x="274320" y="388620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Services</a:t>
            </a:r>
          </a:p>
        </p:txBody>
      </p:sp>
      <p:sp>
        <p:nvSpPr>
          <p:cNvPr id="11" name="TextBox 10"/>
          <p:cNvSpPr txBox="1"/>
          <p:nvPr/>
        </p:nvSpPr>
        <p:spPr>
          <a:xfrm>
            <a:off x="274320" y="507492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Data</a:t>
            </a:r>
          </a:p>
        </p:txBody>
      </p:sp>
      <p:sp>
        <p:nvSpPr>
          <p:cNvPr id="12" name="User Adjuster"/>
          <p:cNvSpPr/>
          <p:nvPr/>
        </p:nvSpPr>
        <p:spPr>
          <a:xfrm>
            <a:off x="2377440" y="1371600"/>
            <a:ext cx="1874519" cy="502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Adjuster</a:t>
            </a:r>
          </a:p>
        </p:txBody>
      </p:sp>
      <p:sp>
        <p:nvSpPr>
          <p:cNvPr id="13" name="User Supervisor"/>
          <p:cNvSpPr/>
          <p:nvPr/>
        </p:nvSpPr>
        <p:spPr>
          <a:xfrm>
            <a:off x="4526280" y="1371600"/>
            <a:ext cx="1874519" cy="502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Supervisor</a:t>
            </a:r>
          </a:p>
        </p:txBody>
      </p:sp>
      <p:sp>
        <p:nvSpPr>
          <p:cNvPr id="14" name="User Auditor"/>
          <p:cNvSpPr/>
          <p:nvPr/>
        </p:nvSpPr>
        <p:spPr>
          <a:xfrm>
            <a:off x="6675120" y="1371600"/>
            <a:ext cx="1874519" cy="502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Auditor</a:t>
            </a:r>
          </a:p>
        </p:txBody>
      </p:sp>
      <p:sp>
        <p:nvSpPr>
          <p:cNvPr id="15" name="Frontend"/>
          <p:cNvSpPr/>
          <p:nvPr/>
        </p:nvSpPr>
        <p:spPr>
          <a:xfrm>
            <a:off x="1463040" y="2103120"/>
            <a:ext cx="8001000" cy="64008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i="0">
                <a:solidFill>
                  <a:srgbClr val="FFFFFF"/>
                </a:solidFill>
                <a:latin typeface="Calibri"/>
              </a:rPr>
              <a:t>React + TypeScript single-page app (Vite)</a:t>
            </a:r>
          </a:p>
          <a:p>
            <a:pPr algn="ctr">
              <a:spcAft>
                <a:spcPts val="0"/>
              </a:spcAft>
            </a:pPr>
            <a:r>
              <a:rPr sz="1100" b="0" i="0">
                <a:solidFill>
                  <a:srgbClr val="FFFFFF"/>
                </a:solidFill>
                <a:latin typeface="Calibri"/>
              </a:rPr>
              <a:t>Dashboard  ·  Claims  ·  New claim  ·  Review queue  ·  Policy library  ·  Assistant  ·  Audit  ·  Evaluation</a:t>
            </a:r>
          </a:p>
        </p:txBody>
      </p:sp>
      <p:sp>
        <p:nvSpPr>
          <p:cNvPr id="16" name="API"/>
          <p:cNvSpPr/>
          <p:nvPr/>
        </p:nvSpPr>
        <p:spPr>
          <a:xfrm>
            <a:off x="1463040" y="2971800"/>
            <a:ext cx="8001000" cy="59436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FFFFFF"/>
                </a:solidFill>
                <a:latin typeface="Calibri"/>
              </a:rPr>
              <a:t>FastAPI REST API  /api/v1   ·   sign-in tokens and roles   ·   security headers</a:t>
            </a:r>
          </a:p>
        </p:txBody>
      </p:sp>
      <p:sp>
        <p:nvSpPr>
          <p:cNvPr id="17" name="Service Agent Supervisor"/>
          <p:cNvSpPr/>
          <p:nvPr/>
        </p:nvSpPr>
        <p:spPr>
          <a:xfrm>
            <a:off x="1463040"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Agent Supervisor</a:t>
            </a:r>
          </a:p>
          <a:p>
            <a:pPr algn="ctr">
              <a:spcAft>
                <a:spcPts val="0"/>
              </a:spcAft>
            </a:pPr>
            <a:r>
              <a:rPr sz="1100" b="0" i="0">
                <a:solidFill>
                  <a:srgbClr val="242424"/>
                </a:solidFill>
                <a:latin typeface="Calibri"/>
              </a:rPr>
              <a:t>8 agents, tool calls logged, fails safely</a:t>
            </a:r>
          </a:p>
        </p:txBody>
      </p:sp>
      <p:sp>
        <p:nvSpPr>
          <p:cNvPr id="18" name="Service Hybrid RAG"/>
          <p:cNvSpPr/>
          <p:nvPr/>
        </p:nvSpPr>
        <p:spPr>
          <a:xfrm>
            <a:off x="3502152"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Hybrid RAG</a:t>
            </a:r>
          </a:p>
          <a:p>
            <a:pPr algn="ctr">
              <a:spcAft>
                <a:spcPts val="0"/>
              </a:spcAft>
            </a:pPr>
            <a:r>
              <a:rPr sz="1100" b="0" i="0">
                <a:solidFill>
                  <a:srgbClr val="242424"/>
                </a:solidFill>
                <a:latin typeface="Calibri"/>
              </a:rPr>
              <a:t>BM25 + char n-gram, version match</a:t>
            </a:r>
          </a:p>
        </p:txBody>
      </p:sp>
      <p:sp>
        <p:nvSpPr>
          <p:cNvPr id="19" name="Service Rules Engine"/>
          <p:cNvSpPr/>
          <p:nvPr/>
        </p:nvSpPr>
        <p:spPr>
          <a:xfrm>
            <a:off x="5541264"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Rules Engine</a:t>
            </a:r>
          </a:p>
          <a:p>
            <a:pPr algn="ctr">
              <a:spcAft>
                <a:spcPts val="0"/>
              </a:spcAft>
            </a:pPr>
            <a:r>
              <a:rPr sz="1100" b="0" i="0">
                <a:solidFill>
                  <a:srgbClr val="242424"/>
                </a:solidFill>
                <a:latin typeface="Calibri"/>
              </a:rPr>
              <a:t>Decimal waterfall with clause refs</a:t>
            </a:r>
          </a:p>
        </p:txBody>
      </p:sp>
      <p:sp>
        <p:nvSpPr>
          <p:cNvPr id="20" name="Service Review &amp; Letters"/>
          <p:cNvSpPr/>
          <p:nvPr/>
        </p:nvSpPr>
        <p:spPr>
          <a:xfrm>
            <a:off x="7580375"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Review &amp; Letters</a:t>
            </a:r>
          </a:p>
          <a:p>
            <a:pPr algn="ctr">
              <a:spcAft>
                <a:spcPts val="0"/>
              </a:spcAft>
            </a:pPr>
            <a:r>
              <a:rPr sz="1100" b="0" i="0">
                <a:solidFill>
                  <a:srgbClr val="242424"/>
                </a:solidFill>
                <a:latin typeface="Calibri"/>
              </a:rPr>
              <a:t>queues, SLA, letters, analytics</a:t>
            </a:r>
          </a:p>
        </p:txBody>
      </p:sp>
      <p:sp>
        <p:nvSpPr>
          <p:cNvPr id="21" name="Data PostgreSQL / SQLite"/>
          <p:cNvSpPr/>
          <p:nvPr/>
        </p:nvSpPr>
        <p:spPr>
          <a:xfrm>
            <a:off x="2148840"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PostgreSQL / SQLite</a:t>
            </a:r>
          </a:p>
          <a:p>
            <a:pPr algn="ctr">
              <a:spcAft>
                <a:spcPts val="0"/>
              </a:spcAft>
            </a:pPr>
            <a:r>
              <a:rPr sz="1050" b="0" i="0">
                <a:solidFill>
                  <a:srgbClr val="242424"/>
                </a:solidFill>
                <a:latin typeface="Calibri"/>
              </a:rPr>
              <a:t>claims, facts, runs, decisions, tasks, audit</a:t>
            </a:r>
          </a:p>
        </p:txBody>
      </p:sp>
      <p:sp>
        <p:nvSpPr>
          <p:cNvPr id="22" name="Data Policy corpus"/>
          <p:cNvSpPr/>
          <p:nvPr/>
        </p:nvSpPr>
        <p:spPr>
          <a:xfrm>
            <a:off x="4023360"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Policy corpus</a:t>
            </a:r>
          </a:p>
          <a:p>
            <a:pPr algn="ctr">
              <a:spcAft>
                <a:spcPts val="0"/>
              </a:spcAft>
            </a:pPr>
            <a:r>
              <a:rPr sz="1050" b="0" i="0">
                <a:solidFill>
                  <a:srgbClr val="242424"/>
                </a:solidFill>
                <a:latin typeface="Calibri"/>
              </a:rPr>
              <a:t>5 wordings + structured terms, PDF ingestion</a:t>
            </a:r>
          </a:p>
        </p:txBody>
      </p:sp>
      <p:sp>
        <p:nvSpPr>
          <p:cNvPr id="23" name="Data Document storage"/>
          <p:cNvSpPr/>
          <p:nvPr/>
        </p:nvSpPr>
        <p:spPr>
          <a:xfrm>
            <a:off x="5897879"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Document storage</a:t>
            </a:r>
          </a:p>
          <a:p>
            <a:pPr algn="ctr">
              <a:spcAft>
                <a:spcPts val="0"/>
              </a:spcAft>
            </a:pPr>
            <a:r>
              <a:rPr sz="1050" b="0" i="0">
                <a:solidFill>
                  <a:srgbClr val="242424"/>
                </a:solidFill>
                <a:latin typeface="Calibri"/>
              </a:rPr>
              <a:t>uploaded claim files</a:t>
            </a:r>
          </a:p>
        </p:txBody>
      </p:sp>
      <p:sp>
        <p:nvSpPr>
          <p:cNvPr id="24" name="Data Source registry"/>
          <p:cNvSpPr/>
          <p:nvPr/>
        </p:nvSpPr>
        <p:spPr>
          <a:xfrm>
            <a:off x="7772400"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Source registry</a:t>
            </a:r>
          </a:p>
          <a:p>
            <a:pPr algn="ctr">
              <a:spcAft>
                <a:spcPts val="0"/>
              </a:spcAft>
            </a:pPr>
            <a:r>
              <a:rPr sz="1050" b="0" i="0">
                <a:solidFill>
                  <a:srgbClr val="242424"/>
                </a:solidFill>
                <a:latin typeface="Calibri"/>
              </a:rPr>
              <a:t>SHA-256 provenance, RAG manifest</a:t>
            </a:r>
          </a:p>
        </p:txBody>
      </p:sp>
      <p:cxnSp>
        <p:nvCxnSpPr>
          <p:cNvPr id="25" name="Connector 24"/>
          <p:cNvCxnSpPr/>
          <p:nvPr/>
        </p:nvCxnSpPr>
        <p:spPr>
          <a:xfrm>
            <a:off x="3291840" y="1874519"/>
            <a:ext cx="0" cy="228601"/>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440680" y="1874519"/>
            <a:ext cx="0" cy="228601"/>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589520" y="1874519"/>
            <a:ext cx="0" cy="228601"/>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458968" y="27432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404872"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443983"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483096"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22208"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017520"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92040"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766559"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641080"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LLM panel"/>
          <p:cNvSpPr/>
          <p:nvPr/>
        </p:nvSpPr>
        <p:spPr>
          <a:xfrm>
            <a:off x="9738360" y="1371600"/>
            <a:ext cx="2148840" cy="22402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400"/>
              </a:spcAft>
            </a:pPr>
            <a:r>
              <a:rPr sz="1400" b="1" i="0">
                <a:solidFill>
                  <a:srgbClr val="1F3864"/>
                </a:solidFill>
                <a:latin typeface="Calibri"/>
              </a:rPr>
              <a:t>Optional LLM</a:t>
            </a:r>
          </a:p>
          <a:p>
            <a:pPr algn="ctr">
              <a:spcAft>
                <a:spcPts val="0"/>
              </a:spcAft>
            </a:pPr>
            <a:r>
              <a:rPr sz="1100" b="0" i="0">
                <a:solidFill>
                  <a:srgbClr val="242424"/>
                </a:solidFill>
                <a:latin typeface="Calibri"/>
              </a:rPr>
              <a:t>Writes the explanation narrative only. Off by default: answers are extractive. Never decides or calculates.</a:t>
            </a:r>
          </a:p>
        </p:txBody>
      </p:sp>
      <p:sp>
        <p:nvSpPr>
          <p:cNvPr id="38" name="Delivery panel"/>
          <p:cNvSpPr/>
          <p:nvPr/>
        </p:nvSpPr>
        <p:spPr>
          <a:xfrm>
            <a:off x="9738360" y="3749039"/>
            <a:ext cx="2148840" cy="22402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400"/>
              </a:spcAft>
            </a:pPr>
            <a:r>
              <a:rPr sz="1400" b="1" i="0">
                <a:solidFill>
                  <a:srgbClr val="1F3864"/>
                </a:solidFill>
                <a:latin typeface="Calibri"/>
              </a:rPr>
              <a:t>Delivery</a:t>
            </a:r>
          </a:p>
          <a:p>
            <a:pPr algn="ctr">
              <a:spcAft>
                <a:spcPts val="0"/>
              </a:spcAft>
            </a:pPr>
            <a:r>
              <a:rPr sz="1100" b="0" i="0">
                <a:solidFill>
                  <a:srgbClr val="242424"/>
                </a:solidFill>
                <a:latin typeface="Calibri"/>
              </a:rPr>
              <a:t>One Docker image (UI built into the API). GitHub Actions CI. Live on Render with a verify-deployment workflow.</a:t>
            </a:r>
          </a:p>
        </p:txBody>
      </p:sp>
      <p:cxnSp>
        <p:nvCxnSpPr>
          <p:cNvPr id="39" name="Connector 38"/>
          <p:cNvCxnSpPr/>
          <p:nvPr/>
        </p:nvCxnSpPr>
        <p:spPr>
          <a:xfrm flipH="1">
            <a:off x="9464040" y="4297680"/>
            <a:ext cx="274320"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58188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3BE5C-251C-23E3-8F19-EE2DB3009E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ABB59C-76FD-5246-4EEE-72212BF64AE4}"/>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 - Claim Workflow</a:t>
            </a:r>
          </a:p>
        </p:txBody>
      </p:sp>
      <p:cxnSp>
        <p:nvCxnSpPr>
          <p:cNvPr id="5" name="Straight Connector 4">
            <a:extLst>
              <a:ext uri="{FF2B5EF4-FFF2-40B4-BE49-F238E27FC236}">
                <a16:creationId xmlns:a16="http://schemas.microsoft.com/office/drawing/2014/main" id="{04BC82A4-B382-2A00-3070-17B2B47F169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E73589-106E-E0B7-D90D-C7E75D0CB2B6}"/>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Step Upload"/>
          <p:cNvSpPr/>
          <p:nvPr/>
        </p:nvSpPr>
        <p:spPr>
          <a:xfrm>
            <a:off x="411480" y="1463040"/>
            <a:ext cx="2057400" cy="9601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Upload</a:t>
            </a:r>
          </a:p>
          <a:p>
            <a:pPr algn="ctr">
              <a:spcAft>
                <a:spcPts val="0"/>
              </a:spcAft>
            </a:pPr>
            <a:r>
              <a:rPr sz="1200" b="0" i="0">
                <a:solidFill>
                  <a:srgbClr val="FFFFFF"/>
                </a:solidFill>
                <a:latin typeface="Calibri"/>
              </a:rPr>
              <a:t>claim packet</a:t>
            </a:r>
          </a:p>
        </p:txBody>
      </p:sp>
      <p:cxnSp>
        <p:nvCxnSpPr>
          <p:cNvPr id="8" name="Connector 7"/>
          <p:cNvCxnSpPr/>
          <p:nvPr/>
        </p:nvCxnSpPr>
        <p:spPr>
          <a:xfrm>
            <a:off x="2468880"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Step 0 Document"/>
          <p:cNvSpPr/>
          <p:nvPr/>
        </p:nvSpPr>
        <p:spPr>
          <a:xfrm>
            <a:off x="2761488"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0 Document</a:t>
            </a:r>
          </a:p>
          <a:p>
            <a:pPr algn="ctr">
              <a:spcAft>
                <a:spcPts val="0"/>
              </a:spcAft>
            </a:pPr>
            <a:r>
              <a:rPr sz="1200" b="0" i="0">
                <a:solidFill>
                  <a:srgbClr val="FFFFFF"/>
                </a:solidFill>
                <a:latin typeface="Calibri"/>
              </a:rPr>
              <a:t>classify, extract</a:t>
            </a:r>
          </a:p>
        </p:txBody>
      </p:sp>
      <p:cxnSp>
        <p:nvCxnSpPr>
          <p:cNvPr id="10" name="Connector 9"/>
          <p:cNvCxnSpPr/>
          <p:nvPr/>
        </p:nvCxnSpPr>
        <p:spPr>
          <a:xfrm>
            <a:off x="4818888"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tep 1 Intake"/>
          <p:cNvSpPr/>
          <p:nvPr/>
        </p:nvSpPr>
        <p:spPr>
          <a:xfrm>
            <a:off x="5111496"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1 Intake</a:t>
            </a:r>
          </a:p>
          <a:p>
            <a:pPr algn="ctr">
              <a:spcAft>
                <a:spcPts val="0"/>
              </a:spcAft>
            </a:pPr>
            <a:r>
              <a:rPr sz="1200" b="0" i="0">
                <a:solidFill>
                  <a:srgbClr val="FFFFFF"/>
                </a:solidFill>
                <a:latin typeface="Calibri"/>
              </a:rPr>
              <a:t>consolidate facts</a:t>
            </a:r>
          </a:p>
        </p:txBody>
      </p:sp>
      <p:cxnSp>
        <p:nvCxnSpPr>
          <p:cNvPr id="12" name="Connector 11"/>
          <p:cNvCxnSpPr/>
          <p:nvPr/>
        </p:nvCxnSpPr>
        <p:spPr>
          <a:xfrm>
            <a:off x="7168896"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tep 2 Policy"/>
          <p:cNvSpPr/>
          <p:nvPr/>
        </p:nvSpPr>
        <p:spPr>
          <a:xfrm>
            <a:off x="7461503"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2 Policy</a:t>
            </a:r>
          </a:p>
          <a:p>
            <a:pPr algn="ctr">
              <a:spcAft>
                <a:spcPts val="0"/>
              </a:spcAft>
            </a:pPr>
            <a:r>
              <a:rPr sz="1200" b="0" i="0">
                <a:solidFill>
                  <a:srgbClr val="FFFFFF"/>
                </a:solidFill>
                <a:latin typeface="Calibri"/>
              </a:rPr>
              <a:t>version + RAG</a:t>
            </a:r>
          </a:p>
        </p:txBody>
      </p:sp>
      <p:cxnSp>
        <p:nvCxnSpPr>
          <p:cNvPr id="14" name="Connector 13"/>
          <p:cNvCxnSpPr/>
          <p:nvPr/>
        </p:nvCxnSpPr>
        <p:spPr>
          <a:xfrm>
            <a:off x="9518903"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Step 3 Coverage"/>
          <p:cNvSpPr/>
          <p:nvPr/>
        </p:nvSpPr>
        <p:spPr>
          <a:xfrm>
            <a:off x="9811511"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3 Coverage</a:t>
            </a:r>
          </a:p>
          <a:p>
            <a:pPr algn="ctr">
              <a:spcAft>
                <a:spcPts val="0"/>
              </a:spcAft>
            </a:pPr>
            <a:r>
              <a:rPr sz="1200" b="0" i="0">
                <a:solidFill>
                  <a:srgbClr val="FFFFFF"/>
                </a:solidFill>
                <a:latin typeface="Calibri"/>
              </a:rPr>
              <a:t>waiting, exclusions</a:t>
            </a:r>
          </a:p>
        </p:txBody>
      </p:sp>
      <p:cxnSp>
        <p:nvCxnSpPr>
          <p:cNvPr id="16" name="Connector 15"/>
          <p:cNvCxnSpPr/>
          <p:nvPr/>
        </p:nvCxnSpPr>
        <p:spPr>
          <a:xfrm>
            <a:off x="10840211" y="2423160"/>
            <a:ext cx="0" cy="50292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tep 4 Adjudicate"/>
          <p:cNvSpPr/>
          <p:nvPr/>
        </p:nvSpPr>
        <p:spPr>
          <a:xfrm>
            <a:off x="9811511"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4 Adjudicate</a:t>
            </a:r>
          </a:p>
          <a:p>
            <a:pPr algn="ctr">
              <a:spcAft>
                <a:spcPts val="0"/>
              </a:spcAft>
            </a:pPr>
            <a:r>
              <a:rPr sz="1200" b="0" i="0">
                <a:solidFill>
                  <a:srgbClr val="FFFFFF"/>
                </a:solidFill>
                <a:latin typeface="Calibri"/>
              </a:rPr>
              <a:t>Decimal waterfall</a:t>
            </a:r>
          </a:p>
        </p:txBody>
      </p:sp>
      <p:cxnSp>
        <p:nvCxnSpPr>
          <p:cNvPr id="18" name="Connector 17"/>
          <p:cNvCxnSpPr/>
          <p:nvPr/>
        </p:nvCxnSpPr>
        <p:spPr>
          <a:xfrm flipH="1">
            <a:off x="9518903"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5 Risk"/>
          <p:cNvSpPr/>
          <p:nvPr/>
        </p:nvSpPr>
        <p:spPr>
          <a:xfrm>
            <a:off x="7461503"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5 Risk</a:t>
            </a:r>
          </a:p>
          <a:p>
            <a:pPr algn="ctr">
              <a:spcAft>
                <a:spcPts val="0"/>
              </a:spcAft>
            </a:pPr>
            <a:r>
              <a:rPr sz="1200" b="0" i="0">
                <a:solidFill>
                  <a:srgbClr val="FFFFFF"/>
                </a:solidFill>
                <a:latin typeface="Calibri"/>
              </a:rPr>
              <a:t>fraud signals</a:t>
            </a:r>
          </a:p>
        </p:txBody>
      </p:sp>
      <p:cxnSp>
        <p:nvCxnSpPr>
          <p:cNvPr id="20" name="Connector 19"/>
          <p:cNvCxnSpPr/>
          <p:nvPr/>
        </p:nvCxnSpPr>
        <p:spPr>
          <a:xfrm flipH="1">
            <a:off x="7168895"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tep 6 Evidence"/>
          <p:cNvSpPr/>
          <p:nvPr/>
        </p:nvSpPr>
        <p:spPr>
          <a:xfrm>
            <a:off x="5111496"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6 Evidence</a:t>
            </a:r>
          </a:p>
          <a:p>
            <a:pPr algn="ctr">
              <a:spcAft>
                <a:spcPts val="0"/>
              </a:spcAft>
            </a:pPr>
            <a:r>
              <a:rPr sz="1200" b="0" i="0">
                <a:solidFill>
                  <a:srgbClr val="FFFFFF"/>
                </a:solidFill>
                <a:latin typeface="Calibri"/>
              </a:rPr>
              <a:t>recommendation</a:t>
            </a:r>
          </a:p>
        </p:txBody>
      </p:sp>
      <p:cxnSp>
        <p:nvCxnSpPr>
          <p:cNvPr id="22" name="Connector 21"/>
          <p:cNvCxnSpPr/>
          <p:nvPr/>
        </p:nvCxnSpPr>
        <p:spPr>
          <a:xfrm flipH="1">
            <a:off x="4818888"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tep 7 Review"/>
          <p:cNvSpPr/>
          <p:nvPr/>
        </p:nvSpPr>
        <p:spPr>
          <a:xfrm>
            <a:off x="2761488"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7 Review</a:t>
            </a:r>
          </a:p>
          <a:p>
            <a:pPr algn="ctr">
              <a:spcAft>
                <a:spcPts val="0"/>
              </a:spcAft>
            </a:pPr>
            <a:r>
              <a:rPr sz="1200" b="0" i="0">
                <a:solidFill>
                  <a:srgbClr val="FFFFFF"/>
                </a:solidFill>
                <a:latin typeface="Calibri"/>
              </a:rPr>
              <a:t>route to queue</a:t>
            </a:r>
          </a:p>
        </p:txBody>
      </p:sp>
      <p:cxnSp>
        <p:nvCxnSpPr>
          <p:cNvPr id="24" name="Connector 23"/>
          <p:cNvCxnSpPr/>
          <p:nvPr/>
        </p:nvCxnSpPr>
        <p:spPr>
          <a:xfrm flipH="1">
            <a:off x="2468880"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tep 8 Audit"/>
          <p:cNvSpPr/>
          <p:nvPr/>
        </p:nvSpPr>
        <p:spPr>
          <a:xfrm>
            <a:off x="411480"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8 Audit</a:t>
            </a:r>
          </a:p>
          <a:p>
            <a:pPr algn="ctr">
              <a:spcAft>
                <a:spcPts val="0"/>
              </a:spcAft>
            </a:pPr>
            <a:r>
              <a:rPr sz="1200" b="0" i="0">
                <a:solidFill>
                  <a:srgbClr val="FFFFFF"/>
                </a:solidFill>
                <a:latin typeface="Calibri"/>
              </a:rPr>
              <a:t>record event</a:t>
            </a:r>
          </a:p>
        </p:txBody>
      </p:sp>
      <p:sp>
        <p:nvSpPr>
          <p:cNvPr id="26" name="Human decision"/>
          <p:cNvSpPr/>
          <p:nvPr/>
        </p:nvSpPr>
        <p:spPr>
          <a:xfrm>
            <a:off x="411480" y="4206240"/>
            <a:ext cx="2057400" cy="960120"/>
          </a:xfrm>
          <a:prstGeom prst="roundRect">
            <a:avLst>
              <a:gd name="adj" fmla="val 12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Human decision</a:t>
            </a:r>
          </a:p>
          <a:p>
            <a:pPr algn="ctr">
              <a:spcAft>
                <a:spcPts val="0"/>
              </a:spcAft>
            </a:pPr>
            <a:r>
              <a:rPr sz="1200" b="0" i="0">
                <a:solidFill>
                  <a:srgbClr val="FFFFFF"/>
                </a:solidFill>
                <a:latin typeface="Calibri"/>
              </a:rPr>
              <a:t>approve, reject, ask, investigate</a:t>
            </a:r>
          </a:p>
        </p:txBody>
      </p:sp>
      <p:cxnSp>
        <p:nvCxnSpPr>
          <p:cNvPr id="27" name="Connector 26"/>
          <p:cNvCxnSpPr/>
          <p:nvPr/>
        </p:nvCxnSpPr>
        <p:spPr>
          <a:xfrm>
            <a:off x="1440180" y="3886200"/>
            <a:ext cx="0" cy="32004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Letter"/>
          <p:cNvSpPr/>
          <p:nvPr/>
        </p:nvSpPr>
        <p:spPr>
          <a:xfrm>
            <a:off x="2788920" y="4206240"/>
            <a:ext cx="2057400" cy="960120"/>
          </a:xfrm>
          <a:prstGeom prst="roundRect">
            <a:avLst>
              <a:gd name="adj" fmla="val 12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Letter + audit</a:t>
            </a:r>
          </a:p>
          <a:p>
            <a:pPr algn="ctr">
              <a:spcAft>
                <a:spcPts val="0"/>
              </a:spcAft>
            </a:pPr>
            <a:r>
              <a:rPr sz="1200" b="0" i="0">
                <a:solidFill>
                  <a:srgbClr val="FFFFFF"/>
                </a:solidFill>
                <a:latin typeface="Calibri"/>
              </a:rPr>
              <a:t>settlement or repudiation</a:t>
            </a:r>
          </a:p>
        </p:txBody>
      </p:sp>
      <p:cxnSp>
        <p:nvCxnSpPr>
          <p:cNvPr id="29" name="Connector 28"/>
          <p:cNvCxnSpPr/>
          <p:nvPr/>
        </p:nvCxnSpPr>
        <p:spPr>
          <a:xfrm>
            <a:off x="2468880" y="4681728"/>
            <a:ext cx="320040"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Decision rules"/>
          <p:cNvSpPr/>
          <p:nvPr/>
        </p:nvSpPr>
        <p:spPr>
          <a:xfrm>
            <a:off x="5166360" y="4069080"/>
            <a:ext cx="6720840" cy="1965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500" b="1" i="0">
                <a:solidFill>
                  <a:srgbClr val="1F3864"/>
                </a:solidFill>
                <a:latin typeface="Calibri"/>
              </a:rPr>
              <a:t>Recommendation rules (checked in order)</a:t>
            </a:r>
          </a:p>
          <a:p>
            <a:pPr algn="l">
              <a:spcAft>
                <a:spcPts val="200"/>
              </a:spcAft>
            </a:pPr>
            <a:r>
              <a:rPr sz="1300" b="0" i="0">
                <a:solidFill>
                  <a:srgbClr val="242424"/>
                </a:solidFill>
                <a:latin typeface="Calibri"/>
              </a:rPr>
              <a:t>1. Not covered  -&gt;  recommend reject, citing the failing clause</a:t>
            </a:r>
          </a:p>
          <a:p>
            <a:pPr algn="l">
              <a:spcAft>
                <a:spcPts val="200"/>
              </a:spcAft>
            </a:pPr>
            <a:r>
              <a:rPr sz="1300" b="0" i="0">
                <a:solidFill>
                  <a:srgbClr val="242424"/>
                </a:solidFill>
                <a:latin typeface="Calibri"/>
              </a:rPr>
              <a:t>2. Missing documents  -&gt;  request information</a:t>
            </a:r>
          </a:p>
          <a:p>
            <a:pPr algn="l">
              <a:spcAft>
                <a:spcPts val="200"/>
              </a:spcAft>
            </a:pPr>
            <a:r>
              <a:rPr sz="1300" b="0" i="0">
                <a:solidFill>
                  <a:srgbClr val="242424"/>
                </a:solidFill>
                <a:latin typeface="Calibri"/>
              </a:rPr>
              <a:t>3. High risk score  -&gt;  investigate (SIU queue)</a:t>
            </a:r>
          </a:p>
          <a:p>
            <a:pPr algn="l">
              <a:spcAft>
                <a:spcPts val="200"/>
              </a:spcAft>
            </a:pPr>
            <a:r>
              <a:rPr sz="1300" b="0" i="0">
                <a:solidFill>
                  <a:srgbClr val="242424"/>
                </a:solidFill>
                <a:latin typeface="Calibri"/>
              </a:rPr>
              <a:t>4. Payable below claimed  -&gt;  partial approval; otherwise approve</a:t>
            </a:r>
          </a:p>
          <a:p>
            <a:pPr algn="l">
              <a:spcAft>
                <a:spcPts val="0"/>
              </a:spcAft>
            </a:pPr>
            <a:r>
              <a:rPr sz="1200" b="0" i="1">
                <a:solidFill>
                  <a:srgbClr val="595959"/>
                </a:solidFill>
                <a:latin typeface="Calibri"/>
              </a:rPr>
              <a:t>Any agent error stops the run safely and marks the claim for attention.</a:t>
            </a:r>
          </a:p>
        </p:txBody>
      </p:sp>
    </p:spTree>
    <p:extLst>
      <p:ext uri="{BB962C8B-B14F-4D97-AF65-F5344CB8AC3E}">
        <p14:creationId xmlns:p14="http://schemas.microsoft.com/office/powerpoint/2010/main" val="20158188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7B675-E694-7663-D55C-2461C40B8B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243BDD-B44E-04F0-FA93-336DD2FFA770}"/>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 / Algorithms / Tools</a:t>
            </a:r>
          </a:p>
        </p:txBody>
      </p:sp>
      <p:cxnSp>
        <p:nvCxnSpPr>
          <p:cNvPr id="5" name="Straight Connector 4">
            <a:extLst>
              <a:ext uri="{FF2B5EF4-FFF2-40B4-BE49-F238E27FC236}">
                <a16:creationId xmlns:a16="http://schemas.microsoft.com/office/drawing/2014/main" id="{14963133-FFA1-7CF4-9FAD-E6A120EF4238}"/>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FEA3EC9D-D5AF-E54C-A3D0-5E42F32DC03B}"/>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Algorithms panel"/>
          <p:cNvSpPr/>
          <p:nvPr/>
        </p:nvSpPr>
        <p:spPr>
          <a:xfrm>
            <a:off x="320040" y="1417320"/>
            <a:ext cx="3657600" cy="361188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Algorithms heading"/>
          <p:cNvSpPr/>
          <p:nvPr/>
        </p:nvSpPr>
        <p:spPr>
          <a:xfrm>
            <a:off x="502920" y="1581912"/>
            <a:ext cx="3291840" cy="45720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i="0">
                <a:solidFill>
                  <a:srgbClr val="FFFFFF"/>
                </a:solidFill>
                <a:latin typeface="Calibri"/>
              </a:rPr>
              <a:t>Algorithms</a:t>
            </a:r>
          </a:p>
        </p:txBody>
      </p:sp>
      <p:sp>
        <p:nvSpPr>
          <p:cNvPr id="9" name="Algorithms list"/>
          <p:cNvSpPr txBox="1"/>
          <p:nvPr/>
        </p:nvSpPr>
        <p:spPr>
          <a:xfrm>
            <a:off x="502920" y="2167128"/>
            <a:ext cx="3337560" cy="2743200"/>
          </a:xfrm>
          <a:prstGeom prst="rect">
            <a:avLst/>
          </a:prstGeom>
          <a:noFill/>
        </p:spPr>
        <p:txBody>
          <a:bodyPr wrap="square" anchor="t" lIns="36576" rIns="36576" tIns="18288" bIns="18288">
            <a:spAutoFit/>
          </a:bodyPr>
          <a:lstStyle/>
          <a:p>
            <a:pPr algn="l" marL="201168" indent="-201168">
              <a:spcAft>
                <a:spcPts val="600"/>
              </a:spcAft>
              <a:buChar char="•"/>
            </a:pPr>
            <a:r>
              <a:rPr sz="1350" b="0" i="0">
                <a:solidFill>
                  <a:srgbClr val="242424"/>
                </a:solidFill>
                <a:latin typeface="Calibri"/>
              </a:rPr>
              <a:t>Hybrid retrieval: BM25 (weight 1.5) + TF-IDF over character 3-5 grams (weight 1.0), fused by weighted reciprocal rank</a:t>
            </a:r>
          </a:p>
          <a:p>
            <a:pPr algn="l" marL="201168" indent="-201168">
              <a:spcAft>
                <a:spcPts val="600"/>
              </a:spcAft>
              <a:buChar char="•"/>
            </a:pPr>
            <a:r>
              <a:rPr sz="1350" b="0" i="0">
                <a:solidFill>
                  <a:srgbClr val="242424"/>
                </a:solidFill>
                <a:latin typeface="Calibri"/>
              </a:rPr>
              <a:t>Policy version matching by incident date</a:t>
            </a:r>
          </a:p>
          <a:p>
            <a:pPr algn="l" marL="201168" indent="-201168">
              <a:spcAft>
                <a:spcPts val="600"/>
              </a:spcAft>
              <a:buChar char="•"/>
            </a:pPr>
            <a:r>
              <a:rPr sz="1350" b="0" i="0">
                <a:solidFill>
                  <a:srgbClr val="242424"/>
                </a:solidFill>
                <a:latin typeface="Calibri"/>
              </a:rPr>
              <a:t>Rules waterfall in Python Decimal, rounded to paise</a:t>
            </a:r>
          </a:p>
          <a:p>
            <a:pPr algn="l" marL="201168" indent="-201168">
              <a:spcAft>
                <a:spcPts val="600"/>
              </a:spcAft>
              <a:buChar char="•"/>
            </a:pPr>
            <a:r>
              <a:rPr sz="1350" b="0" i="0">
                <a:solidFill>
                  <a:srgbClr val="242424"/>
                </a:solidFill>
                <a:latin typeface="Calibri"/>
              </a:rPr>
              <a:t>Weighted risk rules: score 0-100, Low / Medium (25+) / High (50+)</a:t>
            </a:r>
          </a:p>
          <a:p>
            <a:pPr algn="l" marL="201168" indent="-201168">
              <a:spcAft>
                <a:spcPts val="600"/>
              </a:spcAft>
              <a:buChar char="•"/>
            </a:pPr>
            <a:r>
              <a:rPr sz="1350" b="0" i="0">
                <a:solidFill>
                  <a:srgbClr val="242424"/>
                </a:solidFill>
                <a:latin typeface="Calibri"/>
              </a:rPr>
              <a:t>Refusal below a minimum retrieval score</a:t>
            </a:r>
          </a:p>
        </p:txBody>
      </p:sp>
      <p:sp>
        <p:nvSpPr>
          <p:cNvPr id="10" name="Tools &amp; Stack panel"/>
          <p:cNvSpPr/>
          <p:nvPr/>
        </p:nvSpPr>
        <p:spPr>
          <a:xfrm>
            <a:off x="4206240" y="1417320"/>
            <a:ext cx="3657600" cy="36118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ools &amp; Stack heading"/>
          <p:cNvSpPr/>
          <p:nvPr/>
        </p:nvSpPr>
        <p:spPr>
          <a:xfrm>
            <a:off x="4389120" y="1581912"/>
            <a:ext cx="3291840" cy="4572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i="0">
                <a:solidFill>
                  <a:srgbClr val="FFFFFF"/>
                </a:solidFill>
                <a:latin typeface="Calibri"/>
              </a:rPr>
              <a:t>Tools &amp; Stack</a:t>
            </a:r>
          </a:p>
        </p:txBody>
      </p:sp>
      <p:sp>
        <p:nvSpPr>
          <p:cNvPr id="12" name="Tools &amp; Stack list"/>
          <p:cNvSpPr txBox="1"/>
          <p:nvPr/>
        </p:nvSpPr>
        <p:spPr>
          <a:xfrm>
            <a:off x="4389120" y="2167128"/>
            <a:ext cx="3337560" cy="2743200"/>
          </a:xfrm>
          <a:prstGeom prst="rect">
            <a:avLst/>
          </a:prstGeom>
          <a:noFill/>
        </p:spPr>
        <p:txBody>
          <a:bodyPr wrap="square" anchor="t" lIns="36576" rIns="36576" tIns="18288" bIns="18288">
            <a:spAutoFit/>
          </a:bodyPr>
          <a:lstStyle/>
          <a:p>
            <a:pPr algn="l" marL="201168" indent="-201168">
              <a:spcAft>
                <a:spcPts val="600"/>
              </a:spcAft>
              <a:buChar char="•"/>
            </a:pPr>
            <a:r>
              <a:rPr sz="1350" b="0" i="0">
                <a:solidFill>
                  <a:srgbClr val="242424"/>
                </a:solidFill>
                <a:latin typeface="Calibri"/>
              </a:rPr>
              <a:t>Python 3, FastAPI, SQLAlchemy, Pydantic</a:t>
            </a:r>
          </a:p>
          <a:p>
            <a:pPr algn="l" marL="201168" indent="-201168">
              <a:spcAft>
                <a:spcPts val="600"/>
              </a:spcAft>
              <a:buChar char="•"/>
            </a:pPr>
            <a:r>
              <a:rPr sz="1350" b="0" i="0">
                <a:solidFill>
                  <a:srgbClr val="242424"/>
                </a:solidFill>
                <a:latin typeface="Calibri"/>
              </a:rPr>
              <a:t>PostgreSQL (Docker Compose) and SQLite</a:t>
            </a:r>
          </a:p>
          <a:p>
            <a:pPr algn="l" marL="201168" indent="-201168">
              <a:spcAft>
                <a:spcPts val="600"/>
              </a:spcAft>
              <a:buChar char="•"/>
            </a:pPr>
            <a:r>
              <a:rPr sz="1350" b="0" i="0">
                <a:solidFill>
                  <a:srgbClr val="242424"/>
                </a:solidFill>
                <a:latin typeface="Calibri"/>
              </a:rPr>
              <a:t>pypdf for PDF text extraction</a:t>
            </a:r>
          </a:p>
          <a:p>
            <a:pPr algn="l" marL="201168" indent="-201168">
              <a:spcAft>
                <a:spcPts val="600"/>
              </a:spcAft>
              <a:buChar char="•"/>
            </a:pPr>
            <a:r>
              <a:rPr sz="1350" b="0" i="0">
                <a:solidFill>
                  <a:srgbClr val="242424"/>
                </a:solidFill>
                <a:latin typeface="Calibri"/>
              </a:rPr>
              <a:t>React, TypeScript, Vite</a:t>
            </a:r>
          </a:p>
          <a:p>
            <a:pPr algn="l" marL="201168" indent="-201168">
              <a:spcAft>
                <a:spcPts val="600"/>
              </a:spcAft>
              <a:buChar char="•"/>
            </a:pPr>
            <a:r>
              <a:rPr sz="1350" b="0" i="0">
                <a:solidFill>
                  <a:srgbClr val="242424"/>
                </a:solidFill>
                <a:latin typeface="Calibri"/>
              </a:rPr>
              <a:t>Docker, Render, GitHub Actions</a:t>
            </a:r>
          </a:p>
          <a:p>
            <a:pPr algn="l" marL="201168" indent="-201168">
              <a:spcAft>
                <a:spcPts val="600"/>
              </a:spcAft>
              <a:buChar char="•"/>
            </a:pPr>
            <a:r>
              <a:rPr sz="1350" b="0" i="0">
                <a:solidFill>
                  <a:srgbClr val="242424"/>
                </a:solidFill>
                <a:latin typeface="Calibri"/>
              </a:rPr>
              <a:t>pytest, Playwright, ruff</a:t>
            </a:r>
          </a:p>
        </p:txBody>
      </p:sp>
      <p:sp>
        <p:nvSpPr>
          <p:cNvPr id="13" name="Data &amp; Evaluation panel"/>
          <p:cNvSpPr/>
          <p:nvPr/>
        </p:nvSpPr>
        <p:spPr>
          <a:xfrm>
            <a:off x="8092440" y="1417320"/>
            <a:ext cx="3657600" cy="361188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Data &amp; Evaluation heading"/>
          <p:cNvSpPr/>
          <p:nvPr/>
        </p:nvSpPr>
        <p:spPr>
          <a:xfrm>
            <a:off x="8275319" y="1581912"/>
            <a:ext cx="3291840" cy="45720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i="0">
                <a:solidFill>
                  <a:srgbClr val="FFFFFF"/>
                </a:solidFill>
                <a:latin typeface="Calibri"/>
              </a:rPr>
              <a:t>Data &amp; Evaluation</a:t>
            </a:r>
          </a:p>
        </p:txBody>
      </p:sp>
      <p:sp>
        <p:nvSpPr>
          <p:cNvPr id="15" name="Data &amp; Evaluation list"/>
          <p:cNvSpPr txBox="1"/>
          <p:nvPr/>
        </p:nvSpPr>
        <p:spPr>
          <a:xfrm>
            <a:off x="8275319" y="2167128"/>
            <a:ext cx="3337560" cy="2743200"/>
          </a:xfrm>
          <a:prstGeom prst="rect">
            <a:avLst/>
          </a:prstGeom>
          <a:noFill/>
        </p:spPr>
        <p:txBody>
          <a:bodyPr wrap="square" anchor="t" lIns="36576" rIns="36576" tIns="18288" bIns="18288">
            <a:spAutoFit/>
          </a:bodyPr>
          <a:lstStyle/>
          <a:p>
            <a:pPr algn="l" marL="201168" indent="-201168">
              <a:spcAft>
                <a:spcPts val="600"/>
              </a:spcAft>
              <a:buChar char="•"/>
            </a:pPr>
            <a:r>
              <a:rPr sz="1350" b="0" i="0">
                <a:solidFill>
                  <a:srgbClr val="242424"/>
                </a:solidFill>
                <a:latin typeface="Calibri"/>
              </a:rPr>
              <a:t>Synthetic only: 5 policy wordings (health x2, motor, home, travel)</a:t>
            </a:r>
          </a:p>
          <a:p>
            <a:pPr algn="l" marL="201168" indent="-201168">
              <a:spcAft>
                <a:spcPts val="600"/>
              </a:spcAft>
              <a:buChar char="•"/>
            </a:pPr>
            <a:r>
              <a:rPr sz="1350" b="0" i="0">
                <a:solidFill>
                  <a:srgbClr val="242424"/>
                </a:solidFill>
                <a:latin typeface="Calibri"/>
              </a:rPr>
              <a:t>58 claim packets; 1,000-claim synthetic portfolio</a:t>
            </a:r>
          </a:p>
          <a:p>
            <a:pPr algn="l" marL="201168" indent="-201168">
              <a:spcAft>
                <a:spcPts val="600"/>
              </a:spcAft>
              <a:buChar char="•"/>
            </a:pPr>
            <a:r>
              <a:rPr sz="1350" b="0" i="0">
                <a:solidFill>
                  <a:srgbClr val="242424"/>
                </a:solidFill>
                <a:latin typeface="Calibri"/>
              </a:rPr>
              <a:t>Golden set: 57 claim cases + 26 questions, worked by hand</a:t>
            </a:r>
          </a:p>
          <a:p>
            <a:pPr algn="l" marL="201168" indent="-201168">
              <a:spcAft>
                <a:spcPts val="600"/>
              </a:spcAft>
              <a:buChar char="•"/>
            </a:pPr>
            <a:r>
              <a:rPr sz="1350" b="0" i="0">
                <a:solidFill>
                  <a:srgbClr val="242424"/>
                </a:solidFill>
                <a:latin typeface="Calibri"/>
              </a:rPr>
              <a:t>Source registry with SHA-256 checksums</a:t>
            </a:r>
          </a:p>
          <a:p>
            <a:pPr algn="l" marL="201168" indent="-201168">
              <a:spcAft>
                <a:spcPts val="600"/>
              </a:spcAft>
              <a:buChar char="•"/>
            </a:pPr>
            <a:r>
              <a:rPr sz="1350" b="0" i="0">
                <a:solidFill>
                  <a:srgbClr val="242424"/>
                </a:solidFill>
                <a:latin typeface="Calibri"/>
              </a:rPr>
              <a:t>CI fails on any failed check</a:t>
            </a:r>
          </a:p>
        </p:txBody>
      </p:sp>
    </p:spTree>
    <p:extLst>
      <p:ext uri="{BB962C8B-B14F-4D97-AF65-F5344CB8AC3E}">
        <p14:creationId xmlns:p14="http://schemas.microsoft.com/office/powerpoint/2010/main" val="107944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Findings and Results - Claims</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Stat 1"/>
          <p:cNvSpPr/>
          <p:nvPr/>
        </p:nvSpPr>
        <p:spPr>
          <a:xfrm>
            <a:off x="320040" y="1371600"/>
            <a:ext cx="2697480" cy="11887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411479"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2E75B6"/>
                </a:solidFill>
                <a:latin typeface="Calibri"/>
              </a:rPr>
              <a:t>58</a:t>
            </a:r>
          </a:p>
        </p:txBody>
      </p:sp>
      <p:sp>
        <p:nvSpPr>
          <p:cNvPr id="9" name="TextBox 8"/>
          <p:cNvSpPr txBox="1"/>
          <p:nvPr/>
        </p:nvSpPr>
        <p:spPr>
          <a:xfrm>
            <a:off x="411479"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claims across 4 lines</a:t>
            </a:r>
          </a:p>
        </p:txBody>
      </p:sp>
      <p:sp>
        <p:nvSpPr>
          <p:cNvPr id="10" name="Stat 2"/>
          <p:cNvSpPr/>
          <p:nvPr/>
        </p:nvSpPr>
        <p:spPr>
          <a:xfrm>
            <a:off x="3218688" y="1371600"/>
            <a:ext cx="2697480" cy="11887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extBox 10"/>
          <p:cNvSpPr txBox="1"/>
          <p:nvPr/>
        </p:nvSpPr>
        <p:spPr>
          <a:xfrm>
            <a:off x="3310128"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548235"/>
                </a:solidFill>
                <a:latin typeface="Calibri"/>
              </a:rPr>
              <a:t>₹87.74 L</a:t>
            </a:r>
          </a:p>
        </p:txBody>
      </p:sp>
      <p:sp>
        <p:nvSpPr>
          <p:cNvPr id="12" name="TextBox 11"/>
          <p:cNvSpPr txBox="1"/>
          <p:nvPr/>
        </p:nvSpPr>
        <p:spPr>
          <a:xfrm>
            <a:off x="3310128"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billed</a:t>
            </a:r>
          </a:p>
        </p:txBody>
      </p:sp>
      <p:sp>
        <p:nvSpPr>
          <p:cNvPr id="13" name="Stat 3"/>
          <p:cNvSpPr/>
          <p:nvPr/>
        </p:nvSpPr>
        <p:spPr>
          <a:xfrm>
            <a:off x="6117336" y="1371600"/>
            <a:ext cx="2697480" cy="11887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TextBox 13"/>
          <p:cNvSpPr txBox="1"/>
          <p:nvPr/>
        </p:nvSpPr>
        <p:spPr>
          <a:xfrm>
            <a:off x="6208775"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2E75B6"/>
                </a:solidFill>
                <a:latin typeface="Calibri"/>
              </a:rPr>
              <a:t>₹54.06 L</a:t>
            </a:r>
          </a:p>
        </p:txBody>
      </p:sp>
      <p:sp>
        <p:nvSpPr>
          <p:cNvPr id="15" name="TextBox 14"/>
          <p:cNvSpPr txBox="1"/>
          <p:nvPr/>
        </p:nvSpPr>
        <p:spPr>
          <a:xfrm>
            <a:off x="6208775"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recommended payable (61.6%)</a:t>
            </a:r>
          </a:p>
        </p:txBody>
      </p:sp>
      <p:sp>
        <p:nvSpPr>
          <p:cNvPr id="16" name="Stat 4"/>
          <p:cNvSpPr/>
          <p:nvPr/>
        </p:nvSpPr>
        <p:spPr>
          <a:xfrm>
            <a:off x="9015984" y="1371600"/>
            <a:ext cx="2697480" cy="11887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9107424"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548235"/>
                </a:solidFill>
                <a:latin typeface="Calibri"/>
              </a:rPr>
              <a:t>803/803</a:t>
            </a:r>
          </a:p>
        </p:txBody>
      </p:sp>
      <p:sp>
        <p:nvSpPr>
          <p:cNvPr id="18" name="TextBox 17"/>
          <p:cNvSpPr txBox="1"/>
          <p:nvPr/>
        </p:nvSpPr>
        <p:spPr>
          <a:xfrm>
            <a:off x="9107424"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golden checks passed</a:t>
            </a:r>
          </a:p>
        </p:txBody>
      </p:sp>
      <p:graphicFrame>
        <p:nvGraphicFramePr>
          <p:cNvPr id="19" name="Billed vs payable chart"/>
          <p:cNvGraphicFramePr>
            <a:graphicFrameLocks noGrp="1"/>
          </p:cNvGraphicFramePr>
          <p:nvPr/>
        </p:nvGraphicFramePr>
        <p:xfrm>
          <a:off x="2194560" y="2743200"/>
          <a:ext cx="5669280" cy="3429000"/>
        </p:xfrm>
        <a:graphic>
          <a:graphicData uri="http://schemas.openxmlformats.org/drawingml/2006/chart">
            <c:chart xmlns:c="http://schemas.openxmlformats.org/drawingml/2006/chart" r:id="rId2"/>
          </a:graphicData>
        </a:graphic>
      </p:graphicFrame>
      <p:sp>
        <p:nvSpPr>
          <p:cNvPr id="20" name="Recommendations panel"/>
          <p:cNvSpPr/>
          <p:nvPr/>
        </p:nvSpPr>
        <p:spPr>
          <a:xfrm>
            <a:off x="8092440" y="2743200"/>
            <a:ext cx="3794760" cy="34290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500" b="1" i="0">
                <a:solidFill>
                  <a:srgbClr val="1F3864"/>
                </a:solidFill>
                <a:latin typeface="Calibri"/>
              </a:rPr>
              <a:t>Recommendations</a:t>
            </a:r>
          </a:p>
          <a:p>
            <a:pPr algn="l">
              <a:spcAft>
                <a:spcPts val="100"/>
              </a:spcAft>
            </a:pPr>
            <a:r>
              <a:rPr sz="1300" b="0" i="0">
                <a:solidFill>
                  <a:srgbClr val="242424"/>
                </a:solidFill>
                <a:latin typeface="Calibri"/>
              </a:rPr>
              <a:t>Partial approval: 31</a:t>
            </a:r>
          </a:p>
          <a:p>
            <a:pPr algn="l">
              <a:spcAft>
                <a:spcPts val="100"/>
              </a:spcAft>
            </a:pPr>
            <a:r>
              <a:rPr sz="1300" b="0" i="0">
                <a:solidFill>
                  <a:srgbClr val="242424"/>
                </a:solidFill>
                <a:latin typeface="Calibri"/>
              </a:rPr>
              <a:t>Reject with cited clause: 21</a:t>
            </a:r>
          </a:p>
          <a:p>
            <a:pPr algn="l">
              <a:spcAft>
                <a:spcPts val="100"/>
              </a:spcAft>
            </a:pPr>
            <a:r>
              <a:rPr sz="1300" b="0" i="0">
                <a:solidFill>
                  <a:srgbClr val="242424"/>
                </a:solidFill>
                <a:latin typeface="Calibri"/>
              </a:rPr>
              <a:t>Request information: 4</a:t>
            </a:r>
          </a:p>
          <a:p>
            <a:pPr algn="l">
              <a:spcAft>
                <a:spcPts val="600"/>
              </a:spcAft>
            </a:pPr>
            <a:r>
              <a:rPr sz="1300" b="0" i="0">
                <a:solidFill>
                  <a:srgbClr val="242424"/>
                </a:solidFill>
                <a:latin typeface="Calibri"/>
              </a:rPr>
              <a:t>Investigate: 2</a:t>
            </a:r>
          </a:p>
          <a:p>
            <a:pPr algn="l">
              <a:spcAft>
                <a:spcPts val="0"/>
              </a:spcAft>
            </a:pPr>
            <a:r>
              <a:rPr sz="1200" b="0" i="0">
                <a:solidFill>
                  <a:srgbClr val="242424"/>
                </a:solidFill>
                <a:latin typeface="Calibri"/>
              </a:rPr>
              <a:t>Every claim went to a human review queue; the system decided none. Every exclusion, waiting period and limit in the four wordings is exercised by at least one claim.</a:t>
            </a:r>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Findings and Results - Quality and Deployment</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graphicFrame>
        <p:nvGraphicFramePr>
          <p:cNvPr id="7" name="Table 6"/>
          <p:cNvGraphicFramePr>
            <a:graphicFrameLocks noGrp="1"/>
          </p:cNvGraphicFramePr>
          <p:nvPr/>
        </p:nvGraphicFramePr>
        <p:xfrm>
          <a:off x="320040" y="1417320"/>
          <a:ext cx="4846320" cy="3072384"/>
        </p:xfrm>
        <a:graphic>
          <a:graphicData uri="http://schemas.openxmlformats.org/drawingml/2006/table">
            <a:tbl>
              <a:tblPr firstRow="1" bandRow="1">
                <a:tableStyleId>{5C22544A-7EE6-4342-B048-85BDC9FD1C3A}</a:tableStyleId>
              </a:tblPr>
              <a:tblGrid>
                <a:gridCol w="3291840"/>
                <a:gridCol w="1554480"/>
              </a:tblGrid>
              <a:tr h="384048">
                <a:tc>
                  <a:txBody>
                    <a:bodyPr/>
                    <a:lstStyle/>
                    <a:p>
                      <a:pPr algn="l"/>
                      <a:r>
                        <a:rPr sz="1300" b="1">
                          <a:solidFill>
                            <a:srgbClr val="FFFFFF"/>
                          </a:solidFill>
                        </a:rPr>
                        <a:t>Golden evaluation dimension</a:t>
                      </a:r>
                    </a:p>
                  </a:txBody>
                  <a:tcPr marT="36576" marB="36576">
                    <a:solidFill>
                      <a:srgbClr val="1F3864"/>
                    </a:solidFill>
                  </a:tcPr>
                </a:tc>
                <a:tc>
                  <a:txBody>
                    <a:bodyPr/>
                    <a:lstStyle/>
                    <a:p>
                      <a:pPr algn="r"/>
                      <a:r>
                        <a:rPr sz="1300" b="1">
                          <a:solidFill>
                            <a:srgbClr val="FFFFFF"/>
                          </a:solidFill>
                        </a:rPr>
                        <a:t>Checks passed</a:t>
                      </a:r>
                    </a:p>
                  </a:txBody>
                  <a:tcPr marT="36576" marB="36576">
                    <a:solidFill>
                      <a:srgbClr val="1F3864"/>
                    </a:solidFill>
                  </a:tcPr>
                </a:tc>
              </a:tr>
              <a:tr h="384048">
                <a:tc>
                  <a:txBody>
                    <a:bodyPr/>
                    <a:lstStyle/>
                    <a:p>
                      <a:pPr algn="l"/>
                      <a:r>
                        <a:rPr sz="1300" b="0">
                          <a:solidFill>
                            <a:srgbClr val="242424"/>
                          </a:solidFill>
                        </a:rPr>
                        <a:t>Retrieval correctness</a:t>
                      </a:r>
                    </a:p>
                  </a:txBody>
                  <a:tcPr marT="36576" marB="36576">
                    <a:solidFill>
                      <a:srgbClr val="DEEBF7"/>
                    </a:solidFill>
                  </a:tcPr>
                </a:tc>
                <a:tc>
                  <a:txBody>
                    <a:bodyPr/>
                    <a:lstStyle/>
                    <a:p>
                      <a:pPr algn="r"/>
                      <a:r>
                        <a:rPr sz="1300" b="0">
                          <a:solidFill>
                            <a:srgbClr val="242424"/>
                          </a:solidFill>
                        </a:rPr>
                        <a:t>107/107</a:t>
                      </a:r>
                    </a:p>
                  </a:txBody>
                  <a:tcPr marT="36576" marB="36576">
                    <a:solidFill>
                      <a:srgbClr val="DEEBF7"/>
                    </a:solidFill>
                  </a:tcPr>
                </a:tc>
              </a:tr>
              <a:tr h="384048">
                <a:tc>
                  <a:txBody>
                    <a:bodyPr/>
                    <a:lstStyle/>
                    <a:p>
                      <a:pPr algn="l"/>
                      <a:r>
                        <a:rPr sz="1300" b="0">
                          <a:solidFill>
                            <a:srgbClr val="242424"/>
                          </a:solidFill>
                        </a:rPr>
                        <a:t>Citation correctness</a:t>
                      </a:r>
                    </a:p>
                  </a:txBody>
                  <a:tcPr marT="36576" marB="36576">
                    <a:solidFill>
                      <a:srgbClr val="FFFFFF"/>
                    </a:solidFill>
                  </a:tcPr>
                </a:tc>
                <a:tc>
                  <a:txBody>
                    <a:bodyPr/>
                    <a:lstStyle/>
                    <a:p>
                      <a:pPr algn="r"/>
                      <a:r>
                        <a:rPr sz="1300" b="0">
                          <a:solidFill>
                            <a:srgbClr val="242424"/>
                          </a:solidFill>
                        </a:rPr>
                        <a:t>68/68</a:t>
                      </a:r>
                    </a:p>
                  </a:txBody>
                  <a:tcPr marT="36576" marB="36576">
                    <a:solidFill>
                      <a:srgbClr val="FFFFFF"/>
                    </a:solidFill>
                  </a:tcPr>
                </a:tc>
              </a:tr>
              <a:tr h="384048">
                <a:tc>
                  <a:txBody>
                    <a:bodyPr/>
                    <a:lstStyle/>
                    <a:p>
                      <a:pPr algn="l"/>
                      <a:r>
                        <a:rPr sz="1300" b="0">
                          <a:solidFill>
                            <a:srgbClr val="242424"/>
                          </a:solidFill>
                        </a:rPr>
                        <a:t>Groundedness</a:t>
                      </a:r>
                    </a:p>
                  </a:txBody>
                  <a:tcPr marT="36576" marB="36576">
                    <a:solidFill>
                      <a:srgbClr val="DEEBF7"/>
                    </a:solidFill>
                  </a:tcPr>
                </a:tc>
                <a:tc>
                  <a:txBody>
                    <a:bodyPr/>
                    <a:lstStyle/>
                    <a:p>
                      <a:pPr algn="r"/>
                      <a:r>
                        <a:rPr sz="1300" b="0">
                          <a:solidFill>
                            <a:srgbClr val="242424"/>
                          </a:solidFill>
                        </a:rPr>
                        <a:t>129/129</a:t>
                      </a:r>
                    </a:p>
                  </a:txBody>
                  <a:tcPr marT="36576" marB="36576">
                    <a:solidFill>
                      <a:srgbClr val="DEEBF7"/>
                    </a:solidFill>
                  </a:tcPr>
                </a:tc>
              </a:tr>
              <a:tr h="384048">
                <a:tc>
                  <a:txBody>
                    <a:bodyPr/>
                    <a:lstStyle/>
                    <a:p>
                      <a:pPr algn="l"/>
                      <a:r>
                        <a:rPr sz="1300" b="0">
                          <a:solidFill>
                            <a:srgbClr val="242424"/>
                          </a:solidFill>
                        </a:rPr>
                        <a:t>Coverage state</a:t>
                      </a:r>
                    </a:p>
                  </a:txBody>
                  <a:tcPr marT="36576" marB="36576">
                    <a:solidFill>
                      <a:srgbClr val="FFFFFF"/>
                    </a:solidFill>
                  </a:tcPr>
                </a:tc>
                <a:tc>
                  <a:txBody>
                    <a:bodyPr/>
                    <a:lstStyle/>
                    <a:p>
                      <a:pPr algn="r"/>
                      <a:r>
                        <a:rPr sz="1300" b="0">
                          <a:solidFill>
                            <a:srgbClr val="242424"/>
                          </a:solidFill>
                        </a:rPr>
                        <a:t>111/111</a:t>
                      </a:r>
                    </a:p>
                  </a:txBody>
                  <a:tcPr marT="36576" marB="36576">
                    <a:solidFill>
                      <a:srgbClr val="FFFFFF"/>
                    </a:solidFill>
                  </a:tcPr>
                </a:tc>
              </a:tr>
              <a:tr h="384048">
                <a:tc>
                  <a:txBody>
                    <a:bodyPr/>
                    <a:lstStyle/>
                    <a:p>
                      <a:pPr algn="l"/>
                      <a:r>
                        <a:rPr sz="1300" b="0">
                          <a:solidFill>
                            <a:srgbClr val="242424"/>
                          </a:solidFill>
                        </a:rPr>
                        <a:t>Adjudication amount</a:t>
                      </a:r>
                    </a:p>
                  </a:txBody>
                  <a:tcPr marT="36576" marB="36576">
                    <a:solidFill>
                      <a:srgbClr val="DEEBF7"/>
                    </a:solidFill>
                  </a:tcPr>
                </a:tc>
                <a:tc>
                  <a:txBody>
                    <a:bodyPr/>
                    <a:lstStyle/>
                    <a:p>
                      <a:pPr algn="r"/>
                      <a:r>
                        <a:rPr sz="1300" b="0">
                          <a:solidFill>
                            <a:srgbClr val="242424"/>
                          </a:solidFill>
                        </a:rPr>
                        <a:t>156/156</a:t>
                      </a:r>
                    </a:p>
                  </a:txBody>
                  <a:tcPr marT="36576" marB="36576">
                    <a:solidFill>
                      <a:srgbClr val="DEEBF7"/>
                    </a:solidFill>
                  </a:tcPr>
                </a:tc>
              </a:tr>
              <a:tr h="384048">
                <a:tc>
                  <a:txBody>
                    <a:bodyPr/>
                    <a:lstStyle/>
                    <a:p>
                      <a:pPr algn="l"/>
                      <a:r>
                        <a:rPr sz="1300" b="0">
                          <a:solidFill>
                            <a:srgbClr val="242424"/>
                          </a:solidFill>
                        </a:rPr>
                        <a:t>Risk classification</a:t>
                      </a:r>
                    </a:p>
                  </a:txBody>
                  <a:tcPr marT="36576" marB="36576">
                    <a:solidFill>
                      <a:srgbClr val="FFFFFF"/>
                    </a:solidFill>
                  </a:tcPr>
                </a:tc>
                <a:tc>
                  <a:txBody>
                    <a:bodyPr/>
                    <a:lstStyle/>
                    <a:p>
                      <a:pPr algn="r"/>
                      <a:r>
                        <a:rPr sz="1300" b="0">
                          <a:solidFill>
                            <a:srgbClr val="242424"/>
                          </a:solidFill>
                        </a:rPr>
                        <a:t>61/61</a:t>
                      </a:r>
                    </a:p>
                  </a:txBody>
                  <a:tcPr marT="36576" marB="36576">
                    <a:solidFill>
                      <a:srgbClr val="FFFFFF"/>
                    </a:solidFill>
                  </a:tcPr>
                </a:tc>
              </a:tr>
              <a:tr h="384048">
                <a:tc>
                  <a:txBody>
                    <a:bodyPr/>
                    <a:lstStyle/>
                    <a:p>
                      <a:pPr algn="l"/>
                      <a:r>
                        <a:rPr sz="1300" b="0">
                          <a:solidFill>
                            <a:srgbClr val="242424"/>
                          </a:solidFill>
                        </a:rPr>
                        <a:t>Workflow outcome</a:t>
                      </a:r>
                    </a:p>
                  </a:txBody>
                  <a:tcPr marT="36576" marB="36576">
                    <a:solidFill>
                      <a:srgbClr val="DEEBF7"/>
                    </a:solidFill>
                  </a:tcPr>
                </a:tc>
                <a:tc>
                  <a:txBody>
                    <a:bodyPr/>
                    <a:lstStyle/>
                    <a:p>
                      <a:pPr algn="r"/>
                      <a:r>
                        <a:rPr sz="1300" b="0">
                          <a:solidFill>
                            <a:srgbClr val="242424"/>
                          </a:solidFill>
                        </a:rPr>
                        <a:t>171/171</a:t>
                      </a:r>
                    </a:p>
                  </a:txBody>
                  <a:tcPr marT="36576" marB="36576">
                    <a:solidFill>
                      <a:srgbClr val="DEEBF7"/>
                    </a:solidFill>
                  </a:tcPr>
                </a:tc>
              </a:tr>
            </a:tbl>
          </a:graphicData>
        </a:graphic>
      </p:graphicFrame>
      <p:sp>
        <p:nvSpPr>
          <p:cNvPr id="8" name="Retrieval metrics"/>
          <p:cNvSpPr txBox="1"/>
          <p:nvPr/>
        </p:nvSpPr>
        <p:spPr>
          <a:xfrm>
            <a:off x="2240280" y="4617720"/>
            <a:ext cx="2926080" cy="1371600"/>
          </a:xfrm>
          <a:prstGeom prst="rect">
            <a:avLst/>
          </a:prstGeom>
          <a:noFill/>
        </p:spPr>
        <p:txBody>
          <a:bodyPr wrap="square" anchor="t" lIns="36576" rIns="36576" tIns="18288" bIns="18288">
            <a:spAutoFit/>
          </a:bodyPr>
          <a:lstStyle/>
          <a:p>
            <a:pPr algn="l">
              <a:spcAft>
                <a:spcPts val="300"/>
              </a:spcAft>
            </a:pPr>
            <a:r>
              <a:rPr sz="1300" b="1" i="0">
                <a:solidFill>
                  <a:srgbClr val="1F3864"/>
                </a:solidFill>
                <a:latin typeface="Calibri"/>
              </a:rPr>
              <a:t>Retrieval hit@1 100%  ·  MRR 1.00</a:t>
            </a:r>
          </a:p>
          <a:p>
            <a:pPr algn="l">
              <a:spcAft>
                <a:spcPts val="300"/>
              </a:spcAft>
            </a:pPr>
            <a:r>
              <a:rPr sz="1300" b="1" i="0">
                <a:solidFill>
                  <a:srgbClr val="1F3864"/>
                </a:solidFill>
                <a:latin typeface="Calibri"/>
              </a:rPr>
              <a:t>Refusals correct 100%</a:t>
            </a:r>
          </a:p>
          <a:p>
            <a:pPr algn="l">
              <a:spcAft>
                <a:spcPts val="600"/>
              </a:spcAft>
            </a:pPr>
            <a:r>
              <a:rPr sz="1200" b="0" i="0">
                <a:solidFill>
                  <a:srgbClr val="242424"/>
                </a:solidFill>
                <a:latin typeface="Calibri"/>
              </a:rPr>
              <a:t>Risk rules on 1,000 synthetic claims: precision 86.6%, recall 84.1% (injected patterns only)</a:t>
            </a:r>
          </a:p>
        </p:txBody>
      </p:sp>
      <p:pic>
        <p:nvPicPr>
          <p:cNvPr id="9" name="Screenshot - live dashboard" descr="23-dashboard-interactive.png"/>
          <p:cNvPicPr>
            <a:picLocks noChangeAspect="1"/>
          </p:cNvPicPr>
          <p:nvPr/>
        </p:nvPicPr>
        <p:blipFill>
          <a:blip r:embed="rId2"/>
          <a:stretch>
            <a:fillRect/>
          </a:stretch>
        </p:blipFill>
        <p:spPr>
          <a:xfrm>
            <a:off x="5486400" y="1417320"/>
            <a:ext cx="6400800" cy="4026993"/>
          </a:xfrm>
          <a:prstGeom prst="rect">
            <a:avLst/>
          </a:prstGeom>
          <a:ln w="9525">
            <a:solidFill>
              <a:srgbClr val="BFBFBF"/>
            </a:solidFill>
          </a:ln>
        </p:spPr>
      </p:pic>
      <p:sp>
        <p:nvSpPr>
          <p:cNvPr id="10" name="Caption"/>
          <p:cNvSpPr txBox="1"/>
          <p:nvPr/>
        </p:nvSpPr>
        <p:spPr>
          <a:xfrm>
            <a:off x="5486400" y="5517465"/>
            <a:ext cx="640080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Claims dashboard: every tile, line and bar opens the matching claims</a:t>
            </a:r>
          </a:p>
        </p:txBody>
      </p:sp>
      <p:sp>
        <p:nvSpPr>
          <p:cNvPr id="11" name="Test summary"/>
          <p:cNvSpPr txBox="1"/>
          <p:nvPr/>
        </p:nvSpPr>
        <p:spPr>
          <a:xfrm>
            <a:off x="5486400" y="5897880"/>
            <a:ext cx="6400800" cy="365760"/>
          </a:xfrm>
          <a:prstGeom prst="rect">
            <a:avLst/>
          </a:prstGeom>
          <a:noFill/>
        </p:spPr>
        <p:txBody>
          <a:bodyPr wrap="square" anchor="t" lIns="36576" rIns="36576" tIns="18288" bIns="18288">
            <a:spAutoFit/>
          </a:bodyPr>
          <a:lstStyle/>
          <a:p>
            <a:pPr algn="l">
              <a:spcAft>
                <a:spcPts val="0"/>
              </a:spcAft>
            </a:pPr>
            <a:r>
              <a:rPr sz="1300" b="1" i="0">
                <a:solidFill>
                  <a:srgbClr val="548235"/>
                </a:solidFill>
                <a:latin typeface="Calibri"/>
              </a:rPr>
              <a:t>127 backend tests  ·  12 browser tests  ·  live smoke test passed on claim-sense.onrender.com</a:t>
            </a:r>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5BBC5-46B5-0DF4-A2AC-5289D29573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EA9949-295E-B2C7-8E3A-639B0AD48F51}"/>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Conclusion</a:t>
            </a:r>
          </a:p>
        </p:txBody>
      </p:sp>
      <p:cxnSp>
        <p:nvCxnSpPr>
          <p:cNvPr id="5" name="Straight Connector 4">
            <a:extLst>
              <a:ext uri="{FF2B5EF4-FFF2-40B4-BE49-F238E27FC236}">
                <a16:creationId xmlns:a16="http://schemas.microsoft.com/office/drawing/2014/main" id="{1C3477A6-BED1-8211-5527-9030F1E86940}"/>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AC1E1-8B68-1019-1B7A-0CF7BDC8B3EC}"/>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Conclusion text"/>
          <p:cNvSpPr txBox="1"/>
          <p:nvPr/>
        </p:nvSpPr>
        <p:spPr>
          <a:xfrm>
            <a:off x="320040" y="1371600"/>
            <a:ext cx="6766560" cy="4572000"/>
          </a:xfrm>
          <a:prstGeom prst="rect">
            <a:avLst/>
          </a:prstGeom>
          <a:noFill/>
        </p:spPr>
        <p:txBody>
          <a:bodyPr wrap="square" anchor="t" lIns="36576" rIns="36576" tIns="18288" bIns="18288">
            <a:spAutoFit/>
          </a:bodyPr>
          <a:lstStyle/>
          <a:p>
            <a:pPr algn="l">
              <a:spcAft>
                <a:spcPts val="400"/>
              </a:spcAft>
            </a:pPr>
            <a:r>
              <a:rPr sz="1800" b="1" i="0">
                <a:solidFill>
                  <a:srgbClr val="1F3864"/>
                </a:solidFill>
                <a:latin typeface="Calibri"/>
              </a:rPr>
              <a:t>What was achieved</a:t>
            </a:r>
          </a:p>
          <a:p>
            <a:pPr algn="l" marL="201168" indent="-201168">
              <a:spcAft>
                <a:spcPts val="500"/>
              </a:spcAft>
              <a:buChar char="•"/>
            </a:pPr>
            <a:r>
              <a:rPr sz="1500" b="0" i="0">
                <a:solidFill>
                  <a:srgbClr val="242424"/>
                </a:solidFill>
                <a:latin typeface="Calibri"/>
              </a:rPr>
              <a:t>A working, deployed claims decision-support system for health, motor, home and travel insurance.</a:t>
            </a:r>
          </a:p>
          <a:p>
            <a:pPr algn="l" marL="201168" indent="-201168">
              <a:spcAft>
                <a:spcPts val="500"/>
              </a:spcAft>
              <a:buChar char="•"/>
            </a:pPr>
            <a:r>
              <a:rPr sz="1500" b="0" i="0">
                <a:solidFill>
                  <a:srgbClr val="242424"/>
                </a:solidFill>
                <a:latin typeface="Calibri"/>
              </a:rPr>
              <a:t>Retrieval-augmented, cited reasoning over versioned policy wordings, with refusal when evidence is weak.</a:t>
            </a:r>
          </a:p>
          <a:p>
            <a:pPr algn="l" marL="201168" indent="-201168">
              <a:spcAft>
                <a:spcPts val="500"/>
              </a:spcAft>
              <a:buChar char="•"/>
            </a:pPr>
            <a:r>
              <a:rPr sz="1500" b="0" i="0">
                <a:solidFill>
                  <a:srgbClr val="242424"/>
                </a:solidFill>
                <a:latin typeface="Calibri"/>
              </a:rPr>
              <a:t>Exact, explainable payable amounts: 803/803 hand-worked checks pass, and every step cites its clause.</a:t>
            </a:r>
          </a:p>
          <a:p>
            <a:pPr algn="l" marL="201168" indent="-201168">
              <a:spcAft>
                <a:spcPts val="500"/>
              </a:spcAft>
              <a:buChar char="•"/>
            </a:pPr>
            <a:r>
              <a:rPr sz="1500" b="0" i="0">
                <a:solidFill>
                  <a:srgbClr val="242424"/>
                </a:solidFill>
                <a:latin typeface="Calibri"/>
              </a:rPr>
              <a:t>People stay in charge: review queues, approval limits, reviewer notes, letters and a complete audit trail.</a:t>
            </a:r>
          </a:p>
          <a:p>
            <a:pPr algn="l">
              <a:spcAft>
                <a:spcPts val="400"/>
              </a:spcAft>
            </a:pPr>
            <a:r>
              <a:rPr sz="1800" b="1" i="0">
                <a:solidFill>
                  <a:srgbClr val="1F3864"/>
                </a:solidFill>
                <a:latin typeface="Calibri"/>
              </a:rPr>
              <a:t>Limitations</a:t>
            </a:r>
          </a:p>
          <a:p>
            <a:pPr algn="l" marL="201168" indent="-201168">
              <a:spcAft>
                <a:spcPts val="500"/>
              </a:spcAft>
              <a:buChar char="•"/>
            </a:pPr>
            <a:r>
              <a:rPr sz="1500" b="0" i="0">
                <a:solidFill>
                  <a:srgbClr val="242424"/>
                </a:solidFill>
                <a:latin typeface="Calibri"/>
              </a:rPr>
              <a:t>Synthetic data only; the LLM narrative is not yet scored; no OCR for scanned images.</a:t>
            </a:r>
          </a:p>
        </p:txBody>
      </p:sp>
      <p:sp>
        <p:nvSpPr>
          <p:cNvPr id="8" name="Future work"/>
          <p:cNvSpPr/>
          <p:nvPr/>
        </p:nvSpPr>
        <p:spPr>
          <a:xfrm>
            <a:off x="7315200" y="1417320"/>
            <a:ext cx="4526280" cy="329184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36576" bIns="36576"/>
          <a:lstStyle/>
          <a:p>
            <a:pPr algn="l">
              <a:spcAft>
                <a:spcPts val="800"/>
              </a:spcAft>
            </a:pPr>
            <a:r>
              <a:rPr sz="1800" b="1" i="0">
                <a:solidFill>
                  <a:srgbClr val="548235"/>
                </a:solidFill>
                <a:latin typeface="Calibri"/>
              </a:rPr>
              <a:t>Future work</a:t>
            </a:r>
          </a:p>
          <a:p>
            <a:pPr algn="l" marL="201168" indent="-201168">
              <a:spcAft>
                <a:spcPts val="600"/>
              </a:spcAft>
              <a:buChar char="•"/>
            </a:pPr>
            <a:r>
              <a:rPr sz="1400" b="0" i="0">
                <a:solidFill>
                  <a:srgbClr val="242424"/>
                </a:solidFill>
                <a:latin typeface="Calibri"/>
              </a:rPr>
              <a:t>Ingest real IRDAI circulars after a licence review</a:t>
            </a:r>
          </a:p>
          <a:p>
            <a:pPr algn="l" marL="201168" indent="-201168">
              <a:spcAft>
                <a:spcPts val="600"/>
              </a:spcAft>
              <a:buChar char="•"/>
            </a:pPr>
            <a:r>
              <a:rPr sz="1400" b="0" i="0">
                <a:solidFill>
                  <a:srgbClr val="242424"/>
                </a:solidFill>
                <a:latin typeface="Calibri"/>
              </a:rPr>
              <a:t>Embedding retriever alongside BM25</a:t>
            </a:r>
          </a:p>
          <a:p>
            <a:pPr algn="l" marL="201168" indent="-201168">
              <a:spcAft>
                <a:spcPts val="600"/>
              </a:spcAft>
              <a:buChar char="•"/>
            </a:pPr>
            <a:r>
              <a:rPr sz="1400" b="0" i="0">
                <a:solidFill>
                  <a:srgbClr val="242424"/>
                </a:solidFill>
                <a:latin typeface="Calibri"/>
              </a:rPr>
              <a:t>OCR for scanned claim documents</a:t>
            </a:r>
          </a:p>
          <a:p>
            <a:pPr algn="l" marL="201168" indent="-201168">
              <a:spcAft>
                <a:spcPts val="600"/>
              </a:spcAft>
              <a:buChar char="•"/>
            </a:pPr>
            <a:r>
              <a:rPr sz="1400" b="0" i="0">
                <a:solidFill>
                  <a:srgbClr val="242424"/>
                </a:solidFill>
                <a:latin typeface="Calibri"/>
              </a:rPr>
              <a:t>Score LLM-written explanations sentence by sentence against cited clauses</a:t>
            </a:r>
          </a:p>
          <a:p>
            <a:pPr algn="l" marL="201168" indent="-201168">
              <a:spcAft>
                <a:spcPts val="600"/>
              </a:spcAft>
              <a:buChar char="•"/>
            </a:pPr>
            <a:r>
              <a:rPr sz="1400" b="0" i="0">
                <a:solidFill>
                  <a:srgbClr val="242424"/>
                </a:solidFill>
                <a:latin typeface="Calibri"/>
              </a:rPr>
              <a:t>Azure Container Apps deployment, single sign-on and an ML fraud model</a:t>
            </a:r>
          </a:p>
        </p:txBody>
      </p:sp>
    </p:spTree>
    <p:extLst>
      <p:ext uri="{BB962C8B-B14F-4D97-AF65-F5344CB8AC3E}">
        <p14:creationId xmlns:p14="http://schemas.microsoft.com/office/powerpoint/2010/main" val="2198371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56F40-96CC-DEF8-9EB7-1452372377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DDE408-8E1E-6FA2-7CC4-7953936B171B}"/>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err="1">
                <a:solidFill>
                  <a:srgbClr val="5B9BD5">
                    <a:lumMod val="50000"/>
                  </a:srgbClr>
                </a:solidFill>
              </a:rPr>
              <a:t>Acknowledgement</a:t>
            </a:r>
          </a:p>
        </p:txBody>
      </p:sp>
      <p:cxnSp>
        <p:nvCxnSpPr>
          <p:cNvPr id="5" name="Straight Connector 4">
            <a:extLst>
              <a:ext uri="{FF2B5EF4-FFF2-40B4-BE49-F238E27FC236}">
                <a16:creationId xmlns:a16="http://schemas.microsoft.com/office/drawing/2014/main" id="{11AC8EE7-5ED3-D96C-9268-8B7B9A5D057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06C5A91-6D8B-7A46-6BA9-7AF0BB8742E7}"/>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Acknowledgement text"/>
          <p:cNvSpPr txBox="1"/>
          <p:nvPr/>
        </p:nvSpPr>
        <p:spPr>
          <a:xfrm>
            <a:off x="2194560" y="1828800"/>
            <a:ext cx="7772400" cy="3474720"/>
          </a:xfrm>
          <a:prstGeom prst="rect">
            <a:avLst/>
          </a:prstGeom>
          <a:noFill/>
        </p:spPr>
        <p:txBody>
          <a:bodyPr wrap="square" anchor="t" lIns="36576" rIns="36576" tIns="18288" bIns="18288">
            <a:spAutoFit/>
          </a:bodyPr>
          <a:lstStyle/>
          <a:p>
            <a:pPr algn="l">
              <a:spcAft>
                <a:spcPts val="1400"/>
              </a:spcAft>
            </a:pPr>
            <a:r>
              <a:rPr sz="2000" b="0" i="0">
                <a:solidFill>
                  <a:srgbClr val="242424"/>
                </a:solidFill>
                <a:latin typeface="Calibri"/>
              </a:rPr>
              <a:t>I sincerely thank the University and LTIMindtree for the M.Tech Advanced Industry Integrated Program, and L&amp;T EduTech for its support as implementation partner.</a:t>
            </a:r>
          </a:p>
          <a:p>
            <a:pPr algn="l">
              <a:spcAft>
                <a:spcPts val="2400"/>
              </a:spcAft>
            </a:pPr>
            <a:r>
              <a:rPr sz="2000" b="0" i="0">
                <a:solidFill>
                  <a:srgbClr val="242424"/>
                </a:solidFill>
                <a:latin typeface="Calibri"/>
              </a:rPr>
              <a:t>I am grateful to my project guide and mentors for their guidance, reviews and encouragement throughout this project, and to my family and friends for their constant support.</a:t>
            </a:r>
          </a:p>
          <a:p>
            <a:pPr algn="l">
              <a:spcAft>
                <a:spcPts val="0"/>
              </a:spcAft>
            </a:pPr>
            <a:r>
              <a:rPr sz="1800" b="1" i="0">
                <a:solidFill>
                  <a:srgbClr val="1F3864"/>
                </a:solidFill>
                <a:latin typeface="Calibri"/>
              </a:rPr>
              <a:t>S.K. Sricharan  ·  T-SERIES ID: T9984</a:t>
            </a:r>
          </a:p>
        </p:txBody>
      </p:sp>
    </p:spTree>
    <p:extLst>
      <p:ext uri="{BB962C8B-B14F-4D97-AF65-F5344CB8AC3E}">
        <p14:creationId xmlns:p14="http://schemas.microsoft.com/office/powerpoint/2010/main" val="157348891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C1BA9-EED8-0553-15DB-7AC5ADC07E0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6CD0F3-77A2-E482-9F59-462941CA9EFC}"/>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References</a:t>
            </a:r>
          </a:p>
        </p:txBody>
      </p:sp>
      <p:cxnSp>
        <p:nvCxnSpPr>
          <p:cNvPr id="5" name="Straight Connector 4">
            <a:extLst>
              <a:ext uri="{FF2B5EF4-FFF2-40B4-BE49-F238E27FC236}">
                <a16:creationId xmlns:a16="http://schemas.microsoft.com/office/drawing/2014/main" id="{0EF328B9-B5B2-A4C8-C436-49616B481A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9E96C34-B06E-814D-72EC-EF1F6BBFAAF7}"/>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Reference list"/>
          <p:cNvSpPr txBox="1"/>
          <p:nvPr/>
        </p:nvSpPr>
        <p:spPr>
          <a:xfrm>
            <a:off x="320040" y="1371600"/>
            <a:ext cx="11521440" cy="3840480"/>
          </a:xfrm>
          <a:prstGeom prst="rect">
            <a:avLst/>
          </a:prstGeom>
          <a:noFill/>
        </p:spPr>
        <p:txBody>
          <a:bodyPr wrap="square" anchor="t" lIns="36576" rIns="36576" tIns="18288" bIns="18288">
            <a:spAutoFit/>
          </a:bodyPr>
          <a:lstStyle/>
          <a:p>
            <a:pPr algn="l">
              <a:spcAft>
                <a:spcPts val="1000"/>
              </a:spcAft>
            </a:pPr>
            <a:r>
              <a:rPr sz="1500" b="0" i="0">
                <a:solidFill>
                  <a:srgbClr val="242424"/>
                </a:solidFill>
                <a:latin typeface="Calibri"/>
              </a:rPr>
              <a:t>[1]  P. Lewis et al., "Retrieval-Augmented Generation for Knowledge-Intensive NLP Tasks," Advances in Neural Information Processing Systems (NeurIPS), 2020.</a:t>
            </a:r>
          </a:p>
          <a:p>
            <a:pPr algn="l">
              <a:spcAft>
                <a:spcPts val="1000"/>
              </a:spcAft>
            </a:pPr>
            <a:r>
              <a:rPr sz="1500" b="0" i="0">
                <a:solidFill>
                  <a:srgbClr val="242424"/>
                </a:solidFill>
                <a:latin typeface="Calibri"/>
              </a:rPr>
              <a:t>[2]  S. Robertson and H. Zaragoza, "The Probabilistic Relevance Framework: BM25 and Beyond," Foundations and Trends in Information Retrieval, vol. 3, no. 4, 2009.</a:t>
            </a:r>
          </a:p>
          <a:p>
            <a:pPr algn="l">
              <a:spcAft>
                <a:spcPts val="1000"/>
              </a:spcAft>
            </a:pPr>
            <a:r>
              <a:rPr sz="1500" b="0" i="0">
                <a:solidFill>
                  <a:srgbClr val="242424"/>
                </a:solidFill>
                <a:latin typeface="Calibri"/>
              </a:rPr>
              <a:t>[3]  G. V. Cormack, C. L. A. Clarke and S. Buettcher, "Reciprocal Rank Fusion Outperforms Condorcet and Individual Rank Learning Methods," Proc. ACM SIGIR, 2009.</a:t>
            </a:r>
          </a:p>
          <a:p>
            <a:pPr algn="l">
              <a:spcAft>
                <a:spcPts val="1000"/>
              </a:spcAft>
            </a:pPr>
            <a:r>
              <a:rPr sz="1500" b="0" i="0">
                <a:solidFill>
                  <a:srgbClr val="242424"/>
                </a:solidFill>
                <a:latin typeface="Calibri"/>
              </a:rPr>
              <a:t>[4]  Insurance Regulatory and Development Authority of India (IRDAI), Master Circulars on Health Insurance Business and on Protection of Policyholders' Interests, 2024. https://irdai.gov.in</a:t>
            </a:r>
          </a:p>
          <a:p>
            <a:pPr algn="l">
              <a:spcAft>
                <a:spcPts val="1000"/>
              </a:spcAft>
            </a:pPr>
            <a:r>
              <a:rPr sz="1500" b="0" i="0">
                <a:solidFill>
                  <a:srgbClr val="242424"/>
                </a:solidFill>
                <a:latin typeface="Calibri"/>
              </a:rPr>
              <a:t>[5]  FastAPI documentation, https://fastapi.tiangolo.com  ·  React documentation, https://react.dev  ·  SQLAlchemy documentation, https://www.sqlalchemy.org</a:t>
            </a:r>
          </a:p>
          <a:p>
            <a:pPr algn="l">
              <a:spcAft>
                <a:spcPts val="1000"/>
              </a:spcAft>
            </a:pPr>
            <a:r>
              <a:rPr sz="1500" b="0" i="0">
                <a:solidFill>
                  <a:srgbClr val="242424"/>
                </a:solidFill>
                <a:latin typeface="Calibri"/>
              </a:rPr>
              <a:t>[6]  Project source code: https://github.com/sricharansk/CLAIM-SENSE  ·  Live application: https://claim-sense.onrender.com</a:t>
            </a:r>
          </a:p>
        </p:txBody>
      </p:sp>
    </p:spTree>
    <p:extLst>
      <p:ext uri="{BB962C8B-B14F-4D97-AF65-F5344CB8AC3E}">
        <p14:creationId xmlns:p14="http://schemas.microsoft.com/office/powerpoint/2010/main" val="165989016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244</TotalTime>
  <Words>205</Words>
  <Application>Microsoft Office PowerPoint</Application>
  <PresentationFormat>Widescreen</PresentationFormat>
  <Paragraphs>47</Paragraphs>
  <Slides>11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Arial</vt:lpstr>
      <vt:lpstr>Calibri</vt:lpstr>
      <vt:lpstr>Calibri (Body)</vt:lpstr>
      <vt:lpstr>Calibri Light</vt:lpstr>
      <vt:lpstr>Frutiger 45 bold</vt:lpstr>
      <vt:lpstr>Frutiger LT Pro 45 Light</vt:lpstr>
      <vt:lpstr>source-serif-pro</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HARI PRASATH</dc:creator>
  <cp:lastModifiedBy>HARI PRASATH</cp:lastModifiedBy>
  <cp:revision>14</cp:revision>
  <dcterms:created xsi:type="dcterms:W3CDTF">2024-05-13T10:33:11Z</dcterms:created>
  <dcterms:modified xsi:type="dcterms:W3CDTF">2025-10-06T09:41:15Z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c52bb50-aef2-4dc8-bb7f-e0da22648362_Enabled">
    <vt:lpwstr>true</vt:lpwstr>
  </property>
  <property fmtid="{D5CDD505-2E9C-101B-9397-08002B2CF9AE}" pid="3" name="MSIP_Label_ac52bb50-aef2-4dc8-bb7f-e0da22648362_SetDate">
    <vt:lpwstr>2025-08-25T08:11:33Z</vt:lpwstr>
  </property>
  <property fmtid="{D5CDD505-2E9C-101B-9397-08002B2CF9AE}" pid="4" name="MSIP_Label_ac52bb50-aef2-4dc8-bb7f-e0da22648362_Method">
    <vt:lpwstr>Standard</vt:lpwstr>
  </property>
  <property fmtid="{D5CDD505-2E9C-101B-9397-08002B2CF9AE}" pid="5" name="MSIP_Label_ac52bb50-aef2-4dc8-bb7f-e0da22648362_Name">
    <vt:lpwstr>ac52bb50-aef2-4dc8-bb7f-e0da22648362</vt:lpwstr>
  </property>
  <property fmtid="{D5CDD505-2E9C-101B-9397-08002B2CF9AE}" pid="6" name="MSIP_Label_ac52bb50-aef2-4dc8-bb7f-e0da22648362_SiteId">
    <vt:lpwstr>264b9899-fe1b-430b-9509-2154878d5774</vt:lpwstr>
  </property>
  <property fmtid="{D5CDD505-2E9C-101B-9397-08002B2CF9AE}" pid="7" name="MSIP_Label_ac52bb50-aef2-4dc8-bb7f-e0da22648362_ActionId">
    <vt:lpwstr>5a5317b9-6049-4f38-9ea6-5786aca62bc4</vt:lpwstr>
  </property>
  <property fmtid="{D5CDD505-2E9C-101B-9397-08002B2CF9AE}" pid="8" name="MSIP_Label_ac52bb50-aef2-4dc8-bb7f-e0da22648362_ContentBits">
    <vt:lpwstr>2</vt:lpwstr>
  </property>
  <property fmtid="{D5CDD505-2E9C-101B-9397-08002B2CF9AE}" pid="9" name="MSIP_Label_ac52bb50-aef2-4dc8-bb7f-e0da22648362_Tag">
    <vt:lpwstr>10, 3, 0, 1</vt:lpwstr>
  </property>
  <property fmtid="{D5CDD505-2E9C-101B-9397-08002B2CF9AE}" pid="10" name="ClassificationContentMarkingFooterLocations">
    <vt:lpwstr>1_Office Theme:8</vt:lpwstr>
  </property>
  <property fmtid="{D5CDD505-2E9C-101B-9397-08002B2CF9AE}" pid="11" name="ClassificationContentMarkingFooterText">
    <vt:lpwstr>Sensitivity: LNT Construction Internal Use</vt:lpwstr>
  </property>
</Properties>
</file>