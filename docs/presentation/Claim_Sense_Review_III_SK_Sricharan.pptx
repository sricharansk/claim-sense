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506" r:id="rId19"/>
    <p:sldId id="2147470505" r:id="rId18"/>
    <p:sldId id="2147470504" r:id="rId17"/>
    <p:sldId id="2147470494" r:id="rId6"/>
    <p:sldId id="2147470501" r:id="rId7"/>
    <p:sldId id="2147470507" r:id="rId20"/>
    <p:sldId id="2147470498" r:id="rId8"/>
    <p:sldId id="2147470497" r:id="rId9"/>
    <p:sldId id="2147470508" r:id="rId21"/>
    <p:sldId id="2147470499" r:id="rId10"/>
    <p:sldId id="2147470502" r:id="rId11"/>
    <p:sldId id="21474705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12" y="16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7.xml"/><Relationship Id="rId18" Type="http://schemas.openxmlformats.org/officeDocument/2006/relationships/slide" Target="slides/slide6.xml"/><Relationship Id="rId19" Type="http://schemas.openxmlformats.org/officeDocument/2006/relationships/slide" Target="slides/slide5.xml"/><Relationship Id="rId20" Type="http://schemas.openxmlformats.org/officeDocument/2006/relationships/slide" Target="slides/slide10.xml"/><Relationship Id="rId21"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3864"/>
                </a:solidFill>
              </a:rPr>
              <a:t>Billed vs recommended payable by line (₹ lakh)</a:t>
            </a:r>
          </a:p>
        </c:rich>
      </c:tx>
      <c:layout/>
      <c:overlay val="0"/>
    </c:title>
    <c:autoTitleDeleted val="0"/>
    <c:plotArea>
      <c:barChart>
        <c:barDir val="col"/>
        <c:grouping val="clustered"/>
        <c:ser>
          <c:idx val="0"/>
          <c:order val="0"/>
          <c:tx>
            <c:strRef>
              <c:f>Sheet1!$B$1</c:f>
              <c:strCache>
                <c:ptCount val="1"/>
                <c:pt idx="0">
                  <c:v>Billed (₹ lakh)</c:v>
                </c:pt>
              </c:strCache>
            </c:strRef>
          </c:tx>
          <c:spPr>
            <a:solidFill>
              <a:srgbClr val="2E75B6"/>
            </a:solidFill>
          </c:spPr>
          <c:cat>
            <c:strRef>
              <c:f>Sheet1!$A$2:$A$7</c:f>
              <c:strCache>
                <c:ptCount val="6"/>
                <c:pt idx="0">
                  <c:v>Health (21)</c:v>
                </c:pt>
                <c:pt idx="1">
                  <c:v>Motor (11)</c:v>
                </c:pt>
                <c:pt idx="2">
                  <c:v>Home (11)</c:v>
                </c:pt>
                <c:pt idx="3">
                  <c:v>Travel (14)</c:v>
                </c:pt>
                <c:pt idx="4">
                  <c:v>PA (8)</c:v>
                </c:pt>
                <c:pt idx="5">
                  <c:v>Life (7)</c:v>
                </c:pt>
              </c:strCache>
            </c:strRef>
          </c:cat>
          <c:val>
            <c:numRef>
              <c:f>Sheet1!$B$2:$B$7</c:f>
              <c:numCache>
                <c:formatCode>General</c:formatCode>
                <c:ptCount val="6"/>
                <c:pt idx="0">
                  <c:v>21.62</c:v>
                </c:pt>
                <c:pt idx="1">
                  <c:v>6.81</c:v>
                </c:pt>
                <c:pt idx="2">
                  <c:v>29.43</c:v>
                </c:pt>
                <c:pt idx="3">
                  <c:v>29.1</c:v>
                </c:pt>
                <c:pt idx="4">
                  <c:v>28.23</c:v>
                </c:pt>
                <c:pt idx="5">
                  <c:v>107.0</c:v>
                </c:pt>
              </c:numCache>
            </c:numRef>
          </c:val>
        </c:ser>
        <c:ser>
          <c:idx val="1"/>
          <c:order val="1"/>
          <c:tx>
            <c:strRef>
              <c:f>Sheet1!$C$1</c:f>
              <c:strCache>
                <c:ptCount val="1"/>
                <c:pt idx="0">
                  <c:v>Payable (₹ lakh)</c:v>
                </c:pt>
              </c:strCache>
            </c:strRef>
          </c:tx>
          <c:spPr>
            <a:solidFill>
              <a:srgbClr val="548235"/>
            </a:solidFill>
          </c:spPr>
          <c:cat>
            <c:strRef>
              <c:f>Sheet1!$A$2:$A$7</c:f>
              <c:strCache>
                <c:ptCount val="6"/>
                <c:pt idx="0">
                  <c:v>Health (21)</c:v>
                </c:pt>
                <c:pt idx="1">
                  <c:v>Motor (11)</c:v>
                </c:pt>
                <c:pt idx="2">
                  <c:v>Home (11)</c:v>
                </c:pt>
                <c:pt idx="3">
                  <c:v>Travel (14)</c:v>
                </c:pt>
                <c:pt idx="4">
                  <c:v>PA (8)</c:v>
                </c:pt>
                <c:pt idx="5">
                  <c:v>Life (7)</c:v>
                </c:pt>
              </c:strCache>
            </c:strRef>
          </c:cat>
          <c:val>
            <c:numRef>
              <c:f>Sheet1!$C$2:$C$7</c:f>
              <c:numCache>
                <c:formatCode>General</c:formatCode>
                <c:ptCount val="6"/>
                <c:pt idx="0">
                  <c:v>11.91</c:v>
                </c:pt>
                <c:pt idx="1">
                  <c:v>3.04</c:v>
                </c:pt>
                <c:pt idx="2">
                  <c:v>19.01</c:v>
                </c:pt>
                <c:pt idx="3">
                  <c:v>19.45</c:v>
                </c:pt>
                <c:pt idx="4">
                  <c:v>26.57</c:v>
                </c:pt>
                <c:pt idx="5">
                  <c:v>82.0</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D9D9D9"/>
              </a:solidFill>
            </a:ln>
          </c:spPr>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 Id="rId17" Type="http://schemas.microsoft.com/office/2007/relationships/hdphoto" Target="../media/hdphoto1.wdp"/><Relationship Id="rId18" Type="http://schemas.openxmlformats.org/officeDocument/2006/relationships/image" Target="../media/image3.png"/><Relationship Id="rId19"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097280" y="1659822"/>
            <a:ext cx="9994392" cy="526297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solidFill>
                  <a:prstClr val="white"/>
                </a:solidFill>
                <a:cs typeface="Calibri" panose="020F0502020204030204" pitchFamily="34" charset="0"/>
              </a:rPr>
              <a:t>Claim Sense</a:t>
            </a:r>
          </a:p>
          <a:p>
            <a:pPr lvl="0" algn="ctr">
              <a:defRPr/>
            </a:pPr>
            <a:r>
              <a:rPr lang="en-US" sz="2800" b="1" dirty="0">
                <a:solidFill>
                  <a:prstClr val="white"/>
                </a:solidFill>
                <a:latin typeface="Calibri"/>
                <a:cs typeface="Calibri" panose="020F0502020204030204" pitchFamily="34" charset="0"/>
              </a:rPr>
              <a:t>RAG-Based Insurance Claims Adjudication &amp; Policy Knowledge Assistant</a:t>
            </a:r>
            <a:endParaRPr lang="en-US" sz="3600" b="1" dirty="0">
              <a:solidFill>
                <a:prstClr val="white"/>
              </a:solidFill>
              <a:cs typeface="Calibri" panose="020F0502020204030204" pitchFamily="34" charset="0"/>
            </a:endParaRPr>
          </a:p>
          <a:p>
            <a:pPr lvl="0" algn="ctr">
              <a:defRPr/>
            </a:pPr>
            <a:endParaRPr kumimoji="0" lang="en-US" sz="16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600" b="1" dirty="0">
                <a:solidFill>
                  <a:prstClr val="white"/>
                </a:solidFill>
                <a:cs typeface="Calibri" panose="020F0502020204030204" pitchFamily="34" charset="0"/>
              </a:rPr>
              <a:t>S.K. Sricharan</a:t>
            </a:r>
          </a:p>
          <a:p>
            <a:pPr algn="ctr">
              <a:defRPr/>
            </a:pPr>
            <a:r>
              <a:rPr lang="en-US" sz="2400" b="1" dirty="0">
                <a:solidFill>
                  <a:prstClr val="white"/>
                </a:solidFill>
                <a:cs typeface="Calibri" panose="020F0502020204030204" pitchFamily="34" charset="0"/>
              </a:rPr>
              <a:t>T-SERIES ID: T9984</a:t>
            </a: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Intro text"/>
          <p:cNvSpPr txBox="1"/>
          <p:nvPr/>
        </p:nvSpPr>
        <p:spPr>
          <a:xfrm>
            <a:off x="320040" y="1371600"/>
            <a:ext cx="6675120" cy="4754880"/>
          </a:xfrm>
          <a:prstGeom prst="rect">
            <a:avLst/>
          </a:prstGeom>
          <a:noFill/>
        </p:spPr>
        <p:txBody>
          <a:bodyPr wrap="square" anchor="t" lIns="36576" rIns="36576" tIns="18288" bIns="18288">
            <a:spAutoFit/>
          </a:bodyPr>
          <a:lstStyle/>
          <a:p>
            <a:pPr algn="l">
              <a:spcAft>
                <a:spcPts val="400"/>
              </a:spcAft>
            </a:pPr>
            <a:r>
              <a:rPr sz="1800" b="1" i="0">
                <a:solidFill>
                  <a:srgbClr val="1F3864"/>
                </a:solidFill>
                <a:latin typeface="Calibri"/>
              </a:rPr>
              <a:t>Why claims adjudication needs help</a:t>
            </a:r>
          </a:p>
          <a:p>
            <a:pPr algn="l" marL="201168" indent="-201168">
              <a:spcAft>
                <a:spcPts val="500"/>
              </a:spcAft>
              <a:buChar char="•"/>
            </a:pPr>
            <a:r>
              <a:rPr sz="1500" b="0" i="0">
                <a:solidFill>
                  <a:srgbClr val="242424"/>
                </a:solidFill>
                <a:latin typeface="Calibri"/>
              </a:rPr>
              <a:t>Settling an insurance claim means reading the claim packet, finding the policy wording in force on the incident date, applying limits, waiting periods and exclusions, and working out the payable amount.</a:t>
            </a:r>
          </a:p>
          <a:p>
            <a:pPr algn="l" marL="201168" indent="-201168">
              <a:spcAft>
                <a:spcPts val="500"/>
              </a:spcAft>
              <a:buChar char="•"/>
            </a:pPr>
            <a:r>
              <a:rPr sz="1500" b="0" i="0">
                <a:solidFill>
                  <a:srgbClr val="242424"/>
                </a:solidFill>
                <a:latin typeface="Calibri"/>
              </a:rPr>
              <a:t>Done by hand this is slow and inconsistent, and a wrong rejection must be defended clause by clause.</a:t>
            </a:r>
          </a:p>
          <a:p>
            <a:pPr algn="l">
              <a:spcAft>
                <a:spcPts val="400"/>
              </a:spcAft>
            </a:pPr>
            <a:r>
              <a:rPr sz="1800" b="1" i="0">
                <a:solidFill>
                  <a:srgbClr val="1F3864"/>
                </a:solidFill>
                <a:latin typeface="Calibri"/>
              </a:rPr>
              <a:t>What Claim Sense does</a:t>
            </a:r>
          </a:p>
          <a:p>
            <a:pPr algn="l" marL="201168" indent="-201168">
              <a:spcAft>
                <a:spcPts val="500"/>
              </a:spcAft>
              <a:buChar char="•"/>
            </a:pPr>
            <a:r>
              <a:rPr sz="1500" b="0" i="0">
                <a:solidFill>
                  <a:srgbClr val="242424"/>
                </a:solidFill>
                <a:latin typeface="Calibri"/>
              </a:rPr>
              <a:t>AI agents read the documents and retrieve the exact policy clauses (Retrieval-Augmented Generation).</a:t>
            </a:r>
          </a:p>
          <a:p>
            <a:pPr algn="l" marL="201168" indent="-201168">
              <a:spcAft>
                <a:spcPts val="500"/>
              </a:spcAft>
              <a:buChar char="•"/>
            </a:pPr>
            <a:r>
              <a:rPr sz="1500" b="0" i="0">
                <a:solidFill>
                  <a:srgbClr val="242424"/>
                </a:solidFill>
                <a:latin typeface="Calibri"/>
              </a:rPr>
              <a:t>A deterministic rules engine calculates the payable amount in exact decimal arithmetic.</a:t>
            </a:r>
          </a:p>
          <a:p>
            <a:pPr algn="l" marL="201168" indent="-201168">
              <a:spcAft>
                <a:spcPts val="500"/>
              </a:spcAft>
              <a:buChar char="•"/>
            </a:pPr>
            <a:r>
              <a:rPr sz="1500" b="0" i="0">
                <a:solidFill>
                  <a:srgbClr val="242424"/>
                </a:solidFill>
                <a:latin typeface="Calibri"/>
              </a:rPr>
              <a:t>Every recommendation goes to a human reviewer, with the evidence and an audit trail.</a:t>
            </a:r>
          </a:p>
        </p:txBody>
      </p:sp>
      <p:sp>
        <p:nvSpPr>
          <p:cNvPr id="8" name="Intro stat 1"/>
          <p:cNvSpPr/>
          <p:nvPr/>
        </p:nvSpPr>
        <p:spPr>
          <a:xfrm>
            <a:off x="7315200" y="1417320"/>
            <a:ext cx="4526280" cy="10058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TextBox 8"/>
          <p:cNvSpPr txBox="1"/>
          <p:nvPr/>
        </p:nvSpPr>
        <p:spPr>
          <a:xfrm>
            <a:off x="7452360" y="1527048"/>
            <a:ext cx="1325880" cy="786384"/>
          </a:xfrm>
          <a:prstGeom prst="rect">
            <a:avLst/>
          </a:prstGeom>
          <a:noFill/>
        </p:spPr>
        <p:txBody>
          <a:bodyPr wrap="square" anchor="ctr" lIns="36576" rIns="36576" tIns="18288" bIns="18288">
            <a:spAutoFit/>
          </a:bodyPr>
          <a:lstStyle/>
          <a:p>
            <a:pPr algn="ctr">
              <a:spcAft>
                <a:spcPts val="0"/>
              </a:spcAft>
            </a:pPr>
            <a:r>
              <a:rPr sz="3400" b="1" i="0">
                <a:solidFill>
                  <a:srgbClr val="2E75B6"/>
                </a:solidFill>
                <a:latin typeface="Calibri"/>
              </a:rPr>
              <a:t>6</a:t>
            </a:r>
          </a:p>
        </p:txBody>
      </p:sp>
      <p:sp>
        <p:nvSpPr>
          <p:cNvPr id="10" name="TextBox 9"/>
          <p:cNvSpPr txBox="1"/>
          <p:nvPr/>
        </p:nvSpPr>
        <p:spPr>
          <a:xfrm>
            <a:off x="8823960" y="1527048"/>
            <a:ext cx="2926080" cy="786384"/>
          </a:xfrm>
          <a:prstGeom prst="rect">
            <a:avLst/>
          </a:prstGeom>
          <a:noFill/>
        </p:spPr>
        <p:txBody>
          <a:bodyPr wrap="square" anchor="ctr" lIns="36576" rIns="36576" tIns="18288" bIns="18288">
            <a:spAutoFit/>
          </a:bodyPr>
          <a:lstStyle/>
          <a:p>
            <a:pPr algn="l">
              <a:spcAft>
                <a:spcPts val="0"/>
              </a:spcAft>
            </a:pPr>
            <a:r>
              <a:rPr sz="1500" b="0" i="0">
                <a:solidFill>
                  <a:srgbClr val="242424"/>
                </a:solidFill>
                <a:latin typeface="Calibri"/>
              </a:rPr>
              <a:t>lines: health, motor, home, travel, personal accident, life</a:t>
            </a:r>
          </a:p>
        </p:txBody>
      </p:sp>
      <p:sp>
        <p:nvSpPr>
          <p:cNvPr id="11" name="Intro stat 2"/>
          <p:cNvSpPr/>
          <p:nvPr/>
        </p:nvSpPr>
        <p:spPr>
          <a:xfrm>
            <a:off x="7315200" y="2587752"/>
            <a:ext cx="4526280" cy="100584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TextBox 11"/>
          <p:cNvSpPr txBox="1"/>
          <p:nvPr/>
        </p:nvSpPr>
        <p:spPr>
          <a:xfrm>
            <a:off x="7452360" y="2697480"/>
            <a:ext cx="1325880" cy="786384"/>
          </a:xfrm>
          <a:prstGeom prst="rect">
            <a:avLst/>
          </a:prstGeom>
          <a:noFill/>
        </p:spPr>
        <p:txBody>
          <a:bodyPr wrap="square" anchor="ctr" lIns="36576" rIns="36576" tIns="18288" bIns="18288">
            <a:spAutoFit/>
          </a:bodyPr>
          <a:lstStyle/>
          <a:p>
            <a:pPr algn="ctr">
              <a:spcAft>
                <a:spcPts val="0"/>
              </a:spcAft>
            </a:pPr>
            <a:r>
              <a:rPr sz="3400" b="1" i="0">
                <a:solidFill>
                  <a:srgbClr val="548235"/>
                </a:solidFill>
                <a:latin typeface="Calibri"/>
              </a:rPr>
              <a:t>8</a:t>
            </a:r>
          </a:p>
        </p:txBody>
      </p:sp>
      <p:sp>
        <p:nvSpPr>
          <p:cNvPr id="13" name="TextBox 12"/>
          <p:cNvSpPr txBox="1"/>
          <p:nvPr/>
        </p:nvSpPr>
        <p:spPr>
          <a:xfrm>
            <a:off x="8823960" y="2697480"/>
            <a:ext cx="2926080" cy="786384"/>
          </a:xfrm>
          <a:prstGeom prst="rect">
            <a:avLst/>
          </a:prstGeom>
          <a:noFill/>
        </p:spPr>
        <p:txBody>
          <a:bodyPr wrap="square" anchor="ctr" lIns="36576" rIns="36576" tIns="18288" bIns="18288">
            <a:spAutoFit/>
          </a:bodyPr>
          <a:lstStyle/>
          <a:p>
            <a:pPr algn="l">
              <a:spcAft>
                <a:spcPts val="0"/>
              </a:spcAft>
            </a:pPr>
            <a:r>
              <a:rPr sz="1500" b="0" i="0">
                <a:solidFill>
                  <a:srgbClr val="242424"/>
                </a:solidFill>
                <a:latin typeface="Calibri"/>
              </a:rPr>
              <a:t>specialised agents in one supervised pipeline</a:t>
            </a:r>
          </a:p>
        </p:txBody>
      </p:sp>
      <p:sp>
        <p:nvSpPr>
          <p:cNvPr id="14" name="Intro stat 3"/>
          <p:cNvSpPr/>
          <p:nvPr/>
        </p:nvSpPr>
        <p:spPr>
          <a:xfrm>
            <a:off x="7315200" y="3758184"/>
            <a:ext cx="4526280" cy="10058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5" name="TextBox 14"/>
          <p:cNvSpPr txBox="1"/>
          <p:nvPr/>
        </p:nvSpPr>
        <p:spPr>
          <a:xfrm>
            <a:off x="7452360" y="3867912"/>
            <a:ext cx="1325880" cy="786384"/>
          </a:xfrm>
          <a:prstGeom prst="rect">
            <a:avLst/>
          </a:prstGeom>
          <a:noFill/>
        </p:spPr>
        <p:txBody>
          <a:bodyPr wrap="square" anchor="ctr" lIns="36576" rIns="36576" tIns="18288" bIns="18288">
            <a:spAutoFit/>
          </a:bodyPr>
          <a:lstStyle/>
          <a:p>
            <a:pPr algn="ctr">
              <a:spcAft>
                <a:spcPts val="0"/>
              </a:spcAft>
            </a:pPr>
            <a:r>
              <a:rPr sz="3400" b="1" i="0">
                <a:solidFill>
                  <a:srgbClr val="2E75B6"/>
                </a:solidFill>
                <a:latin typeface="Calibri"/>
              </a:rPr>
              <a:t>72</a:t>
            </a:r>
          </a:p>
        </p:txBody>
      </p:sp>
      <p:sp>
        <p:nvSpPr>
          <p:cNvPr id="16" name="TextBox 15"/>
          <p:cNvSpPr txBox="1"/>
          <p:nvPr/>
        </p:nvSpPr>
        <p:spPr>
          <a:xfrm>
            <a:off x="8823960" y="3867912"/>
            <a:ext cx="2926080" cy="786384"/>
          </a:xfrm>
          <a:prstGeom prst="rect">
            <a:avLst/>
          </a:prstGeom>
          <a:noFill/>
        </p:spPr>
        <p:txBody>
          <a:bodyPr wrap="square" anchor="ctr" lIns="36576" rIns="36576" tIns="18288" bIns="18288">
            <a:spAutoFit/>
          </a:bodyPr>
          <a:lstStyle/>
          <a:p>
            <a:pPr algn="l">
              <a:spcAft>
                <a:spcPts val="0"/>
              </a:spcAft>
            </a:pPr>
            <a:r>
              <a:rPr sz="1500" b="0" i="0">
                <a:solidFill>
                  <a:srgbClr val="242424"/>
                </a:solidFill>
                <a:latin typeface="Calibri"/>
              </a:rPr>
              <a:t>synthetic claims analysed end to end</a:t>
            </a:r>
          </a:p>
        </p:txBody>
      </p:sp>
      <p:sp>
        <p:nvSpPr>
          <p:cNvPr id="17" name="Intro stat 4"/>
          <p:cNvSpPr/>
          <p:nvPr/>
        </p:nvSpPr>
        <p:spPr>
          <a:xfrm>
            <a:off x="7315200" y="4928616"/>
            <a:ext cx="4526280" cy="100584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TextBox 17"/>
          <p:cNvSpPr txBox="1"/>
          <p:nvPr/>
        </p:nvSpPr>
        <p:spPr>
          <a:xfrm>
            <a:off x="7452360" y="5038344"/>
            <a:ext cx="1325880" cy="786384"/>
          </a:xfrm>
          <a:prstGeom prst="rect">
            <a:avLst/>
          </a:prstGeom>
          <a:noFill/>
        </p:spPr>
        <p:txBody>
          <a:bodyPr wrap="square" anchor="ctr" lIns="36576" rIns="36576" tIns="18288" bIns="18288">
            <a:spAutoFit/>
          </a:bodyPr>
          <a:lstStyle/>
          <a:p>
            <a:pPr algn="ctr">
              <a:spcAft>
                <a:spcPts val="0"/>
              </a:spcAft>
            </a:pPr>
            <a:r>
              <a:rPr sz="2600" b="1" i="0">
                <a:solidFill>
                  <a:srgbClr val="548235"/>
                </a:solidFill>
                <a:latin typeface="Calibri"/>
              </a:rPr>
              <a:t>Live</a:t>
            </a:r>
          </a:p>
        </p:txBody>
      </p:sp>
      <p:sp>
        <p:nvSpPr>
          <p:cNvPr id="19" name="TextBox 18"/>
          <p:cNvSpPr txBox="1"/>
          <p:nvPr/>
        </p:nvSpPr>
        <p:spPr>
          <a:xfrm>
            <a:off x="8823960" y="5038344"/>
            <a:ext cx="2926080" cy="786384"/>
          </a:xfrm>
          <a:prstGeom prst="rect">
            <a:avLst/>
          </a:prstGeom>
          <a:noFill/>
        </p:spPr>
        <p:txBody>
          <a:bodyPr wrap="square" anchor="ctr" lIns="36576" rIns="36576" tIns="18288" bIns="18288">
            <a:spAutoFit/>
          </a:bodyPr>
          <a:lstStyle/>
          <a:p>
            <a:pPr algn="l">
              <a:spcAft>
                <a:spcPts val="0"/>
              </a:spcAft>
            </a:pPr>
            <a:r>
              <a:rPr sz="1500" b="0" i="0">
                <a:solidFill>
                  <a:srgbClr val="242424"/>
                </a:solidFill>
                <a:latin typeface="Calibri"/>
              </a:rPr>
              <a:t>deployed at claim-sense.onrender.com</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Objective 1"/>
          <p:cNvSpPr/>
          <p:nvPr/>
        </p:nvSpPr>
        <p:spPr>
          <a:xfrm>
            <a:off x="320040" y="1463040"/>
            <a:ext cx="3063240" cy="210312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Objective 1 number"/>
          <p:cNvSpPr/>
          <p:nvPr/>
        </p:nvSpPr>
        <p:spPr>
          <a:xfrm>
            <a:off x="502920" y="1645920"/>
            <a:ext cx="502920" cy="50292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800" b="1" i="0">
                <a:solidFill>
                  <a:srgbClr val="FFFFFF"/>
                </a:solidFill>
                <a:latin typeface="Calibri"/>
              </a:rPr>
              <a:t>1</a:t>
            </a:r>
          </a:p>
        </p:txBody>
      </p:sp>
      <p:sp>
        <p:nvSpPr>
          <p:cNvPr id="9" name="TextBox 8"/>
          <p:cNvSpPr txBox="1"/>
          <p:nvPr/>
        </p:nvSpPr>
        <p:spPr>
          <a:xfrm>
            <a:off x="1143000" y="1664208"/>
            <a:ext cx="2103120" cy="50292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Understand claim documents</a:t>
            </a:r>
          </a:p>
        </p:txBody>
      </p:sp>
      <p:sp>
        <p:nvSpPr>
          <p:cNvPr id="10" name="TextBox 9"/>
          <p:cNvSpPr txBox="1"/>
          <p:nvPr/>
        </p:nvSpPr>
        <p:spPr>
          <a:xfrm>
            <a:off x="502920" y="2286000"/>
            <a:ext cx="2743200" cy="1234440"/>
          </a:xfrm>
          <a:prstGeom prst="rect">
            <a:avLst/>
          </a:prstGeom>
          <a:noFill/>
        </p:spPr>
        <p:txBody>
          <a:bodyPr wrap="square" anchor="t" lIns="36576" rIns="36576" tIns="18288" bIns="18288">
            <a:spAutoFit/>
          </a:bodyPr>
          <a:lstStyle/>
          <a:p>
            <a:pPr algn="l">
              <a:spcAft>
                <a:spcPts val="0"/>
              </a:spcAft>
            </a:pPr>
            <a:r>
              <a:rPr sz="1400" b="0" i="0">
                <a:solidFill>
                  <a:srgbClr val="242424"/>
                </a:solidFill>
                <a:latin typeface="Calibri"/>
              </a:rPr>
              <a:t>Classify each uploaded document and extract facts with the file, line and confidence they came from.</a:t>
            </a:r>
          </a:p>
        </p:txBody>
      </p:sp>
      <p:sp>
        <p:nvSpPr>
          <p:cNvPr id="11" name="Objective 2"/>
          <p:cNvSpPr/>
          <p:nvPr/>
        </p:nvSpPr>
        <p:spPr>
          <a:xfrm>
            <a:off x="3566160" y="1463040"/>
            <a:ext cx="3063240" cy="2103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bjective 2 number"/>
          <p:cNvSpPr/>
          <p:nvPr/>
        </p:nvSpPr>
        <p:spPr>
          <a:xfrm>
            <a:off x="3749039" y="1645920"/>
            <a:ext cx="502920" cy="50292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800" b="1" i="0">
                <a:solidFill>
                  <a:srgbClr val="FFFFFF"/>
                </a:solidFill>
                <a:latin typeface="Calibri"/>
              </a:rPr>
              <a:t>2</a:t>
            </a:r>
          </a:p>
        </p:txBody>
      </p:sp>
      <p:sp>
        <p:nvSpPr>
          <p:cNvPr id="13" name="TextBox 12"/>
          <p:cNvSpPr txBox="1"/>
          <p:nvPr/>
        </p:nvSpPr>
        <p:spPr>
          <a:xfrm>
            <a:off x="4389120" y="1664208"/>
            <a:ext cx="2103120" cy="50292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Ground decisions in policy text</a:t>
            </a:r>
          </a:p>
        </p:txBody>
      </p:sp>
      <p:sp>
        <p:nvSpPr>
          <p:cNvPr id="14" name="TextBox 13"/>
          <p:cNvSpPr txBox="1"/>
          <p:nvPr/>
        </p:nvSpPr>
        <p:spPr>
          <a:xfrm>
            <a:off x="3749039" y="2286000"/>
            <a:ext cx="2743200" cy="1234440"/>
          </a:xfrm>
          <a:prstGeom prst="rect">
            <a:avLst/>
          </a:prstGeom>
          <a:noFill/>
        </p:spPr>
        <p:txBody>
          <a:bodyPr wrap="square" anchor="t" lIns="36576" rIns="36576" tIns="18288" bIns="18288">
            <a:spAutoFit/>
          </a:bodyPr>
          <a:lstStyle/>
          <a:p>
            <a:pPr algn="l">
              <a:spcAft>
                <a:spcPts val="0"/>
              </a:spcAft>
            </a:pPr>
            <a:r>
              <a:rPr sz="1400" b="0" i="0">
                <a:solidFill>
                  <a:srgbClr val="242424"/>
                </a:solidFill>
                <a:latin typeface="Calibri"/>
              </a:rPr>
              <a:t>Retrieve the clause from the wording in force on the incident date, and cite it in every finding.</a:t>
            </a:r>
          </a:p>
        </p:txBody>
      </p:sp>
      <p:sp>
        <p:nvSpPr>
          <p:cNvPr id="15" name="Objective 3"/>
          <p:cNvSpPr/>
          <p:nvPr/>
        </p:nvSpPr>
        <p:spPr>
          <a:xfrm>
            <a:off x="6812279" y="1463040"/>
            <a:ext cx="3063240" cy="210312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Objective 3 number"/>
          <p:cNvSpPr/>
          <p:nvPr/>
        </p:nvSpPr>
        <p:spPr>
          <a:xfrm>
            <a:off x="6995159" y="1645920"/>
            <a:ext cx="502920" cy="50292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800" b="1" i="0">
                <a:solidFill>
                  <a:srgbClr val="FFFFFF"/>
                </a:solidFill>
                <a:latin typeface="Calibri"/>
              </a:rPr>
              <a:t>3</a:t>
            </a:r>
          </a:p>
        </p:txBody>
      </p:sp>
      <p:sp>
        <p:nvSpPr>
          <p:cNvPr id="17" name="TextBox 16"/>
          <p:cNvSpPr txBox="1"/>
          <p:nvPr/>
        </p:nvSpPr>
        <p:spPr>
          <a:xfrm>
            <a:off x="7635240" y="1664208"/>
            <a:ext cx="2103120" cy="50292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Calculate exactly</a:t>
            </a:r>
          </a:p>
        </p:txBody>
      </p:sp>
      <p:sp>
        <p:nvSpPr>
          <p:cNvPr id="18" name="TextBox 17"/>
          <p:cNvSpPr txBox="1"/>
          <p:nvPr/>
        </p:nvSpPr>
        <p:spPr>
          <a:xfrm>
            <a:off x="6995159" y="2286000"/>
            <a:ext cx="2743200" cy="1234440"/>
          </a:xfrm>
          <a:prstGeom prst="rect">
            <a:avLst/>
          </a:prstGeom>
          <a:noFill/>
        </p:spPr>
        <p:txBody>
          <a:bodyPr wrap="square" anchor="t" lIns="36576" rIns="36576" tIns="18288" bIns="18288">
            <a:spAutoFit/>
          </a:bodyPr>
          <a:lstStyle/>
          <a:p>
            <a:pPr algn="l">
              <a:spcAft>
                <a:spcPts val="0"/>
              </a:spcAft>
            </a:pPr>
            <a:r>
              <a:rPr sz="1400" b="0" i="0">
                <a:solidFill>
                  <a:srgbClr val="242424"/>
                </a:solidFill>
                <a:latin typeface="Calibri"/>
              </a:rPr>
              <a:t>Compute payable amounts with a Decimal rules engine; an LLM never does financial arithmetic.</a:t>
            </a:r>
          </a:p>
        </p:txBody>
      </p:sp>
      <p:sp>
        <p:nvSpPr>
          <p:cNvPr id="19" name="Objective 4"/>
          <p:cNvSpPr/>
          <p:nvPr/>
        </p:nvSpPr>
        <p:spPr>
          <a:xfrm>
            <a:off x="2240280" y="3840480"/>
            <a:ext cx="3063240" cy="2103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Objective 4 number"/>
          <p:cNvSpPr/>
          <p:nvPr/>
        </p:nvSpPr>
        <p:spPr>
          <a:xfrm>
            <a:off x="2423160" y="4023360"/>
            <a:ext cx="502920" cy="50292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800" b="1" i="0">
                <a:solidFill>
                  <a:srgbClr val="FFFFFF"/>
                </a:solidFill>
                <a:latin typeface="Calibri"/>
              </a:rPr>
              <a:t>4</a:t>
            </a:r>
          </a:p>
        </p:txBody>
      </p:sp>
      <p:sp>
        <p:nvSpPr>
          <p:cNvPr id="21" name="TextBox 20"/>
          <p:cNvSpPr txBox="1"/>
          <p:nvPr/>
        </p:nvSpPr>
        <p:spPr>
          <a:xfrm>
            <a:off x="3063240" y="4041648"/>
            <a:ext cx="2103120" cy="50292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Flag risk transparently</a:t>
            </a:r>
          </a:p>
        </p:txBody>
      </p:sp>
      <p:sp>
        <p:nvSpPr>
          <p:cNvPr id="22" name="TextBox 21"/>
          <p:cNvSpPr txBox="1"/>
          <p:nvPr/>
        </p:nvSpPr>
        <p:spPr>
          <a:xfrm>
            <a:off x="2423160" y="4663440"/>
            <a:ext cx="2743200" cy="1234440"/>
          </a:xfrm>
          <a:prstGeom prst="rect">
            <a:avLst/>
          </a:prstGeom>
          <a:noFill/>
        </p:spPr>
        <p:txBody>
          <a:bodyPr wrap="square" anchor="t" lIns="36576" rIns="36576" tIns="18288" bIns="18288">
            <a:spAutoFit/>
          </a:bodyPr>
          <a:lstStyle/>
          <a:p>
            <a:pPr algn="l">
              <a:spcAft>
                <a:spcPts val="0"/>
              </a:spcAft>
            </a:pPr>
            <a:r>
              <a:rPr sz="1400" b="0" i="0">
                <a:solidFill>
                  <a:srgbClr val="242424"/>
                </a:solidFill>
                <a:latin typeface="Calibri"/>
              </a:rPr>
              <a:t>Score fraud and risk with explainable rules: duplicates, early claims, amount mismatches, missing documents.</a:t>
            </a:r>
          </a:p>
        </p:txBody>
      </p:sp>
      <p:sp>
        <p:nvSpPr>
          <p:cNvPr id="23" name="Objective 5"/>
          <p:cNvSpPr/>
          <p:nvPr/>
        </p:nvSpPr>
        <p:spPr>
          <a:xfrm>
            <a:off x="5486400" y="3840480"/>
            <a:ext cx="3063240" cy="210312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Objective 5 number"/>
          <p:cNvSpPr/>
          <p:nvPr/>
        </p:nvSpPr>
        <p:spPr>
          <a:xfrm>
            <a:off x="5669280" y="4023360"/>
            <a:ext cx="502920" cy="50292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800" b="1" i="0">
                <a:solidFill>
                  <a:srgbClr val="FFFFFF"/>
                </a:solidFill>
                <a:latin typeface="Calibri"/>
              </a:rPr>
              <a:t>5</a:t>
            </a:r>
          </a:p>
        </p:txBody>
      </p:sp>
      <p:sp>
        <p:nvSpPr>
          <p:cNvPr id="25" name="TextBox 24"/>
          <p:cNvSpPr txBox="1"/>
          <p:nvPr/>
        </p:nvSpPr>
        <p:spPr>
          <a:xfrm>
            <a:off x="6309360" y="4041648"/>
            <a:ext cx="2103120" cy="50292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Keep people in control</a:t>
            </a:r>
          </a:p>
        </p:txBody>
      </p:sp>
      <p:sp>
        <p:nvSpPr>
          <p:cNvPr id="26" name="TextBox 25"/>
          <p:cNvSpPr txBox="1"/>
          <p:nvPr/>
        </p:nvSpPr>
        <p:spPr>
          <a:xfrm>
            <a:off x="5669280" y="4663440"/>
            <a:ext cx="2743200" cy="1234440"/>
          </a:xfrm>
          <a:prstGeom prst="rect">
            <a:avLst/>
          </a:prstGeom>
          <a:noFill/>
        </p:spPr>
        <p:txBody>
          <a:bodyPr wrap="square" anchor="t" lIns="36576" rIns="36576" tIns="18288" bIns="18288">
            <a:spAutoFit/>
          </a:bodyPr>
          <a:lstStyle/>
          <a:p>
            <a:pPr algn="l">
              <a:spcAft>
                <a:spcPts val="0"/>
              </a:spcAft>
            </a:pPr>
            <a:r>
              <a:rPr sz="1400" b="0" i="0">
                <a:solidFill>
                  <a:srgbClr val="242424"/>
                </a:solidFill>
                <a:latin typeface="Calibri"/>
              </a:rPr>
              <a:t>Route every claim to a review queue; approval limits, reviewer notes and a complete audit trail.</a:t>
            </a:r>
          </a:p>
        </p:txBody>
      </p:sp>
      <p:sp>
        <p:nvSpPr>
          <p:cNvPr id="27" name="Objective 6"/>
          <p:cNvSpPr/>
          <p:nvPr/>
        </p:nvSpPr>
        <p:spPr>
          <a:xfrm>
            <a:off x="8732520" y="3840480"/>
            <a:ext cx="3063240" cy="2103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8" name="Objective 6 number"/>
          <p:cNvSpPr/>
          <p:nvPr/>
        </p:nvSpPr>
        <p:spPr>
          <a:xfrm>
            <a:off x="8915400" y="4023360"/>
            <a:ext cx="502920" cy="50292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800" b="1" i="0">
                <a:solidFill>
                  <a:srgbClr val="FFFFFF"/>
                </a:solidFill>
                <a:latin typeface="Calibri"/>
              </a:rPr>
              <a:t>6</a:t>
            </a:r>
          </a:p>
        </p:txBody>
      </p:sp>
      <p:sp>
        <p:nvSpPr>
          <p:cNvPr id="29" name="TextBox 28"/>
          <p:cNvSpPr txBox="1"/>
          <p:nvPr/>
        </p:nvSpPr>
        <p:spPr>
          <a:xfrm>
            <a:off x="9555480" y="4041648"/>
            <a:ext cx="2103120" cy="50292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Prove it works</a:t>
            </a:r>
          </a:p>
        </p:txBody>
      </p:sp>
      <p:sp>
        <p:nvSpPr>
          <p:cNvPr id="30" name="TextBox 29"/>
          <p:cNvSpPr txBox="1"/>
          <p:nvPr/>
        </p:nvSpPr>
        <p:spPr>
          <a:xfrm>
            <a:off x="8915400" y="4663440"/>
            <a:ext cx="2743200" cy="1234440"/>
          </a:xfrm>
          <a:prstGeom prst="rect">
            <a:avLst/>
          </a:prstGeom>
          <a:noFill/>
        </p:spPr>
        <p:txBody>
          <a:bodyPr wrap="square" anchor="t" lIns="36576" rIns="36576" tIns="18288" bIns="18288">
            <a:spAutoFit/>
          </a:bodyPr>
          <a:lstStyle/>
          <a:p>
            <a:pPr algn="l">
              <a:spcAft>
                <a:spcPts val="0"/>
              </a:spcAft>
            </a:pPr>
            <a:r>
              <a:rPr sz="1400" b="0" i="0">
                <a:solidFill>
                  <a:srgbClr val="242424"/>
                </a:solidFill>
                <a:latin typeface="Calibri"/>
              </a:rPr>
              <a:t>Hand-worked golden evaluation, automated tests in CI, and checks against the live deployment.</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1 - Document Intelligence &amp; Intake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3108960" y="57036"/>
            <a:ext cx="9006840" cy="646331"/>
          </a:xfrm>
          <a:prstGeom prst="rect">
            <a:avLst/>
          </a:prstGeom>
          <a:noFill/>
        </p:spPr>
        <p:txBody>
          <a:bodyPr wrap="square" rtlCol="0">
            <a:spAutoFit/>
          </a:bodyPr>
          <a:lstStyle/>
          <a:p>
            <a:pPr algn="r"/>
            <a:r>
              <a:rPr lang="en-US" b="1" i="1" dirty="0" sz="1600">
                <a:solidFill>
                  <a:srgbClr val="FFFFFF"/>
                </a:solidFill>
              </a:rPr>
              <a:t>Claim Sense: RAG-Based Insurance Claims Adjudication &amp; Policy Knowledge Assistant</a:t>
            </a:r>
          </a:p>
        </p:txBody>
      </p:sp>
      <p:sp>
        <p:nvSpPr>
          <p:cNvPr id="19" name="Module content"/>
          <p:cNvSpPr txBox="1"/>
          <p:nvPr/>
        </p:nvSpPr>
        <p:spPr>
          <a:xfrm>
            <a:off x="320040" y="1353312"/>
            <a:ext cx="6172200" cy="3749039"/>
          </a:xfrm>
          <a:prstGeom prst="rect">
            <a:avLst/>
          </a:prstGeom>
          <a:noFill/>
        </p:spPr>
        <p:txBody>
          <a:bodyPr wrap="square" anchor="t" lIns="36576" rIns="36576" tIns="18288" bIns="18288">
            <a:spAutoFit/>
          </a:bodyPr>
          <a:lstStyle/>
          <a:p>
            <a:pPr algn="l">
              <a:spcAft>
                <a:spcPts val="800"/>
              </a:spcAft>
            </a:pPr>
            <a:r>
              <a:rPr sz="2000" b="1" i="0">
                <a:solidFill>
                  <a:srgbClr val="5583D1"/>
                </a:solidFill>
                <a:latin typeface="Calibri"/>
              </a:rPr>
              <a:t>From an uploaded claim packet to one consolidated claim view</a:t>
            </a:r>
          </a:p>
          <a:p>
            <a:pPr algn="l" marL="201168" indent="-201168">
              <a:spcAft>
                <a:spcPts val="800"/>
              </a:spcAft>
              <a:buChar char="•"/>
            </a:pPr>
            <a:r>
              <a:rPr sz="1600" b="0" i="0">
                <a:solidFill>
                  <a:srgbClr val="242424"/>
                </a:solidFill>
                <a:latin typeface="Calibri"/>
              </a:rPr>
              <a:t>Upload claim forms, bills, estimates and reports as text or PDF (page-preserving extraction with pypdf).</a:t>
            </a:r>
          </a:p>
          <a:p>
            <a:pPr algn="l" marL="201168" indent="-201168">
              <a:spcAft>
                <a:spcPts val="800"/>
              </a:spcAft>
              <a:buChar char="•"/>
            </a:pPr>
            <a:r>
              <a:rPr sz="1600" b="0" i="0">
                <a:solidFill>
                  <a:srgbClr val="242424"/>
                </a:solidFill>
                <a:latin typeface="Calibri"/>
              </a:rPr>
              <a:t>Each document is classified (14 types: discharge summary, repair estimate, loss assessment, death certificate ...).</a:t>
            </a:r>
          </a:p>
          <a:p>
            <a:pPr algn="l" marL="201168" indent="-201168">
              <a:spcAft>
                <a:spcPts val="800"/>
              </a:spcAft>
              <a:buChar char="•"/>
            </a:pPr>
            <a:r>
              <a:rPr sz="1600" b="0" i="0">
                <a:solidFill>
                  <a:srgbClr val="242424"/>
                </a:solidFill>
                <a:latin typeface="Calibri"/>
              </a:rPr>
              <a:t>Facts are extracted with their source file, line and confidence; itemised charges are categorised per line of business.</a:t>
            </a:r>
          </a:p>
          <a:p>
            <a:pPr algn="l" marL="201168" indent="-201168">
              <a:spcAft>
                <a:spcPts val="800"/>
              </a:spcAft>
              <a:buChar char="•"/>
            </a:pPr>
            <a:r>
              <a:rPr sz="1600" b="0" i="0">
                <a:solidFill>
                  <a:srgbClr val="242424"/>
                </a:solidFill>
                <a:latin typeface="Calibri"/>
              </a:rPr>
              <a:t>Text addressed to an AI inside a document is flagged for the reviewer and never followed.</a:t>
            </a:r>
          </a:p>
          <a:p>
            <a:pPr algn="l" marL="201168" indent="-201168">
              <a:spcAft>
                <a:spcPts val="800"/>
              </a:spcAft>
              <a:buChar char="•"/>
            </a:pPr>
            <a:r>
              <a:rPr sz="1600" b="0" i="0">
                <a:solidFill>
                  <a:srgbClr val="242424"/>
                </a:solidFill>
                <a:latin typeface="Calibri"/>
              </a:rPr>
              <a:t>A reviewer can correct a fact with a reason; the next analysis uses it and the change is audited.</a:t>
            </a:r>
          </a:p>
        </p:txBody>
      </p:sp>
      <p:pic>
        <p:nvPicPr>
          <p:cNvPr id="20" name="Screenshot - Claim analysis screen: recommendation, amounts and evidence" descr="02-claim-analysis.png"/>
          <p:cNvPicPr>
            <a:picLocks noChangeAspect="1"/>
          </p:cNvPicPr>
          <p:nvPr/>
        </p:nvPicPr>
        <p:blipFill>
          <a:blip r:embed="rId2"/>
          <a:stretch>
            <a:fillRect/>
          </a:stretch>
        </p:blipFill>
        <p:spPr>
          <a:xfrm>
            <a:off x="6720840" y="1463040"/>
            <a:ext cx="5166360" cy="3250359"/>
          </a:xfrm>
          <a:prstGeom prst="rect">
            <a:avLst/>
          </a:prstGeom>
          <a:ln w="9525">
            <a:solidFill>
              <a:srgbClr val="BFBFBF"/>
            </a:solidFill>
          </a:ln>
        </p:spPr>
      </p:pic>
      <p:sp>
        <p:nvSpPr>
          <p:cNvPr id="21" name="Caption"/>
          <p:cNvSpPr txBox="1"/>
          <p:nvPr/>
        </p:nvSpPr>
        <p:spPr>
          <a:xfrm>
            <a:off x="6720840" y="4786550"/>
            <a:ext cx="5166360" cy="365760"/>
          </a:xfrm>
          <a:prstGeom prst="rect">
            <a:avLst/>
          </a:prstGeom>
          <a:noFill/>
        </p:spPr>
        <p:txBody>
          <a:bodyPr wrap="square" anchor="t" lIns="36576" rIns="36576" tIns="18288" bIns="18288">
            <a:spAutoFit/>
          </a:bodyPr>
          <a:lstStyle/>
          <a:p>
            <a:pPr algn="l">
              <a:spcAft>
                <a:spcPts val="0"/>
              </a:spcAft>
            </a:pPr>
            <a:r>
              <a:rPr sz="1200" b="0" i="1">
                <a:solidFill>
                  <a:srgbClr val="595959"/>
                </a:solidFill>
                <a:latin typeface="Calibri"/>
              </a:rPr>
              <a:t>Claim analysis screen: recommendation, amounts and evidence</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2 - Policy RAG &amp; Knowledge Assistant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3108960" y="57036"/>
            <a:ext cx="9006840" cy="646331"/>
          </a:xfrm>
          <a:prstGeom prst="rect">
            <a:avLst/>
          </a:prstGeom>
          <a:noFill/>
        </p:spPr>
        <p:txBody>
          <a:bodyPr wrap="square" rtlCol="0">
            <a:spAutoFit/>
          </a:bodyPr>
          <a:lstStyle/>
          <a:p>
            <a:pPr algn="r"/>
            <a:r>
              <a:rPr lang="en-US" b="1" i="1" dirty="0" sz="1600">
                <a:solidFill>
                  <a:srgbClr val="FFFFFF"/>
                </a:solidFill>
              </a:rPr>
              <a:t>Claim Sense: RAG-Based Insurance Claims Adjudication &amp; Policy Knowledge Assistant</a:t>
            </a:r>
          </a:p>
        </p:txBody>
      </p:sp>
      <p:sp>
        <p:nvSpPr>
          <p:cNvPr id="19" name="Module content"/>
          <p:cNvSpPr txBox="1"/>
          <p:nvPr/>
        </p:nvSpPr>
        <p:spPr>
          <a:xfrm>
            <a:off x="320040" y="1353312"/>
            <a:ext cx="6172200" cy="3749039"/>
          </a:xfrm>
          <a:prstGeom prst="rect">
            <a:avLst/>
          </a:prstGeom>
          <a:noFill/>
        </p:spPr>
        <p:txBody>
          <a:bodyPr wrap="square" anchor="t" lIns="36576" rIns="36576" tIns="18288" bIns="18288">
            <a:spAutoFit/>
          </a:bodyPr>
          <a:lstStyle/>
          <a:p>
            <a:pPr algn="l">
              <a:spcAft>
                <a:spcPts val="800"/>
              </a:spcAft>
            </a:pPr>
            <a:r>
              <a:rPr sz="2000" b="1" i="0">
                <a:solidFill>
                  <a:srgbClr val="5583D1"/>
                </a:solidFill>
                <a:latin typeface="Calibri"/>
              </a:rPr>
              <a:t>Find the right clause in the right version, or refuse</a:t>
            </a:r>
          </a:p>
          <a:p>
            <a:pPr algn="l" marL="201168" indent="-201168">
              <a:spcAft>
                <a:spcPts val="800"/>
              </a:spcAft>
              <a:buChar char="•"/>
            </a:pPr>
            <a:r>
              <a:rPr sz="1600" b="0" i="0">
                <a:solidFill>
                  <a:srgbClr val="242424"/>
                </a:solidFill>
                <a:latin typeface="Calibri"/>
              </a:rPr>
              <a:t>Policy wordings (Markdown or PDF) are parsed into clause-level chunks keeping page, section and clause number.</a:t>
            </a:r>
          </a:p>
          <a:p>
            <a:pPr algn="l" marL="201168" indent="-201168">
              <a:spcAft>
                <a:spcPts val="800"/>
              </a:spcAft>
              <a:buChar char="•"/>
            </a:pPr>
            <a:r>
              <a:rPr sz="1600" b="0" i="0">
                <a:solidFill>
                  <a:srgbClr val="242424"/>
                </a:solidFill>
                <a:latin typeface="Calibri"/>
              </a:rPr>
              <a:t>The wording version in force on the incident date is matched first (e.g. HLT-SHIELD 2024.1 vs 2025.1).</a:t>
            </a:r>
          </a:p>
          <a:p>
            <a:pPr algn="l" marL="201168" indent="-201168">
              <a:spcAft>
                <a:spcPts val="800"/>
              </a:spcAft>
              <a:buChar char="•"/>
            </a:pPr>
            <a:r>
              <a:rPr sz="1600" b="0" i="0">
                <a:solidFill>
                  <a:srgbClr val="242424"/>
                </a:solidFill>
                <a:latin typeface="Calibri"/>
              </a:rPr>
              <a:t>Hybrid retrieval: BM25 on stemmed words + TF-IDF on character n-grams, fused by reciprocal rank, with an insurance synonym map.</a:t>
            </a:r>
          </a:p>
          <a:p>
            <a:pPr algn="l" marL="201168" indent="-201168">
              <a:spcAft>
                <a:spcPts val="800"/>
              </a:spcAft>
              <a:buChar char="•"/>
            </a:pPr>
            <a:r>
              <a:rPr sz="1600" b="0" i="0">
                <a:solidFill>
                  <a:srgbClr val="242424"/>
                </a:solidFill>
                <a:latin typeface="Calibri"/>
              </a:rPr>
              <a:t>The assistant answers only from retrieved clauses with citations, and refuses when evidence is too weak.</a:t>
            </a:r>
          </a:p>
          <a:p>
            <a:pPr algn="l" marL="201168" indent="-201168">
              <a:spcAft>
                <a:spcPts val="800"/>
              </a:spcAft>
              <a:buChar char="•"/>
            </a:pPr>
            <a:r>
              <a:rPr sz="1600" b="0" i="0">
                <a:solidFill>
                  <a:srgbClr val="242424"/>
                </a:solidFill>
                <a:latin typeface="Calibri"/>
              </a:rPr>
              <a:t>PDF ingestion pipeline: validation, SHA-256 duplicate check, extraction, clause parsing, indexing.</a:t>
            </a:r>
          </a:p>
        </p:txBody>
      </p:sp>
      <p:pic>
        <p:nvPicPr>
          <p:cNvPr id="20" name="Screenshot - Policy assistant: cited answer from the matched wording" descr="07-policy-assistant.png"/>
          <p:cNvPicPr>
            <a:picLocks noChangeAspect="1"/>
          </p:cNvPicPr>
          <p:nvPr/>
        </p:nvPicPr>
        <p:blipFill>
          <a:blip r:embed="rId2"/>
          <a:stretch>
            <a:fillRect/>
          </a:stretch>
        </p:blipFill>
        <p:spPr>
          <a:xfrm>
            <a:off x="6720840" y="1463040"/>
            <a:ext cx="5166360" cy="3250359"/>
          </a:xfrm>
          <a:prstGeom prst="rect">
            <a:avLst/>
          </a:prstGeom>
          <a:ln w="9525">
            <a:solidFill>
              <a:srgbClr val="BFBFBF"/>
            </a:solidFill>
          </a:ln>
        </p:spPr>
      </p:pic>
      <p:sp>
        <p:nvSpPr>
          <p:cNvPr id="21" name="Caption"/>
          <p:cNvSpPr txBox="1"/>
          <p:nvPr/>
        </p:nvSpPr>
        <p:spPr>
          <a:xfrm>
            <a:off x="6720840" y="4786550"/>
            <a:ext cx="5166360" cy="365760"/>
          </a:xfrm>
          <a:prstGeom prst="rect">
            <a:avLst/>
          </a:prstGeom>
          <a:noFill/>
        </p:spPr>
        <p:txBody>
          <a:bodyPr wrap="square" anchor="t" lIns="36576" rIns="36576" tIns="18288" bIns="18288">
            <a:spAutoFit/>
          </a:bodyPr>
          <a:lstStyle/>
          <a:p>
            <a:pPr algn="l">
              <a:spcAft>
                <a:spcPts val="0"/>
              </a:spcAft>
            </a:pPr>
            <a:r>
              <a:rPr sz="1200" b="0" i="1">
                <a:solidFill>
                  <a:srgbClr val="595959"/>
                </a:solidFill>
                <a:latin typeface="Calibri"/>
              </a:rPr>
              <a:t>Policy assistant: cited answer from the matched wording</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3 - Deterministic Adjudication Engine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3108960" y="57036"/>
            <a:ext cx="9006840" cy="646331"/>
          </a:xfrm>
          <a:prstGeom prst="rect">
            <a:avLst/>
          </a:prstGeom>
          <a:noFill/>
        </p:spPr>
        <p:txBody>
          <a:bodyPr wrap="square" rtlCol="0">
            <a:spAutoFit/>
          </a:bodyPr>
          <a:lstStyle/>
          <a:p>
            <a:pPr algn="r"/>
            <a:r>
              <a:rPr lang="en-US" b="1" i="1" dirty="0" sz="1600">
                <a:solidFill>
                  <a:srgbClr val="FFFFFF"/>
                </a:solidFill>
              </a:rPr>
              <a:t>Claim Sense: RAG-Based Insurance Claims Adjudication &amp; Policy Knowledge Assistant</a:t>
            </a:r>
          </a:p>
        </p:txBody>
      </p:sp>
      <p:sp>
        <p:nvSpPr>
          <p:cNvPr id="19" name="Module content"/>
          <p:cNvSpPr txBox="1"/>
          <p:nvPr/>
        </p:nvSpPr>
        <p:spPr>
          <a:xfrm>
            <a:off x="320040" y="1353312"/>
            <a:ext cx="6172200" cy="3749039"/>
          </a:xfrm>
          <a:prstGeom prst="rect">
            <a:avLst/>
          </a:prstGeom>
          <a:noFill/>
        </p:spPr>
        <p:txBody>
          <a:bodyPr wrap="square" anchor="t" lIns="36576" rIns="36576" tIns="18288" bIns="18288">
            <a:spAutoFit/>
          </a:bodyPr>
          <a:lstStyle/>
          <a:p>
            <a:pPr algn="l">
              <a:spcAft>
                <a:spcPts val="800"/>
              </a:spcAft>
            </a:pPr>
            <a:r>
              <a:rPr sz="2000" b="1" i="0">
                <a:solidFill>
                  <a:srgbClr val="5583D1"/>
                </a:solidFill>
                <a:latin typeface="Calibri"/>
              </a:rPr>
              <a:t>A cited, step-by-step payment waterfall in exact decimal arithmetic</a:t>
            </a:r>
          </a:p>
          <a:p>
            <a:pPr algn="l" marL="201168" indent="-201168">
              <a:spcAft>
                <a:spcPts val="800"/>
              </a:spcAft>
              <a:buChar char="•"/>
            </a:pPr>
            <a:r>
              <a:rPr sz="1600" b="0" i="0">
                <a:solidFill>
                  <a:srgbClr val="242424"/>
                </a:solidFill>
                <a:latin typeface="Calibri"/>
              </a:rPr>
              <a:t>Health: room and ICU per-day limits, non-payable consumables, deductible, co-payment, sum insured cap.</a:t>
            </a:r>
          </a:p>
          <a:p>
            <a:pPr algn="l" marL="201168" indent="-201168">
              <a:spcAft>
                <a:spcPts val="800"/>
              </a:spcAft>
              <a:buChar char="•"/>
            </a:pPr>
            <a:r>
              <a:rPr sz="1600" b="0" i="0">
                <a:solidFill>
                  <a:srgbClr val="242424"/>
                </a:solidFill>
                <a:latin typeface="Calibri"/>
              </a:rPr>
              <a:t>Motor: depreciation by part type and vehicle age, deductible by engine size, cap at the insured declared value.</a:t>
            </a:r>
          </a:p>
          <a:p>
            <a:pPr algn="l" marL="201168" indent="-201168">
              <a:spcAft>
                <a:spcPts val="800"/>
              </a:spcAft>
              <a:buChar char="•"/>
            </a:pPr>
            <a:r>
              <a:rPr sz="1600" b="0" i="0">
                <a:solidFill>
                  <a:srgbClr val="242424"/>
                </a:solidFill>
                <a:latin typeface="Calibri"/>
              </a:rPr>
              <a:t>Home: depreciation and the average clause for underinsurance; travel: per-item and per-benefit limits.</a:t>
            </a:r>
          </a:p>
          <a:p>
            <a:pPr algn="l" marL="201168" indent="-201168">
              <a:spcAft>
                <a:spcPts val="800"/>
              </a:spcAft>
              <a:buChar char="•"/>
            </a:pPr>
            <a:r>
              <a:rPr sz="1600" b="0" i="0">
                <a:solidFill>
                  <a:srgbClr val="242424"/>
                </a:solidFill>
                <a:latin typeface="Calibri"/>
              </a:rPr>
              <a:t>Personal accident and life: a benefit schedule (% of the capital sum insured) and the sum assured.</a:t>
            </a:r>
          </a:p>
          <a:p>
            <a:pPr algn="l" marL="201168" indent="-201168">
              <a:spcAft>
                <a:spcPts val="800"/>
              </a:spcAft>
              <a:buChar char="•"/>
            </a:pPr>
            <a:r>
              <a:rPr sz="1600" b="0" i="0">
                <a:solidFill>
                  <a:srgbClr val="242424"/>
                </a:solidFill>
                <a:latin typeface="Calibri"/>
              </a:rPr>
              <a:t>Every step (R10-R99) names the policy clause it applies; terms citing a missing clause are rejected at ingestion.</a:t>
            </a:r>
          </a:p>
        </p:txBody>
      </p:sp>
      <p:pic>
        <p:nvPicPr>
          <p:cNvPr id="20" name="Screenshot - Home claim waterfall with the average clause" descr="20-property-claim-adjudication.png"/>
          <p:cNvPicPr>
            <a:picLocks noChangeAspect="1"/>
          </p:cNvPicPr>
          <p:nvPr/>
        </p:nvPicPr>
        <p:blipFill>
          <a:blip r:embed="rId2"/>
          <a:stretch>
            <a:fillRect/>
          </a:stretch>
        </p:blipFill>
        <p:spPr>
          <a:xfrm>
            <a:off x="6720840" y="1463040"/>
            <a:ext cx="5166360" cy="3250359"/>
          </a:xfrm>
          <a:prstGeom prst="rect">
            <a:avLst/>
          </a:prstGeom>
          <a:ln w="9525">
            <a:solidFill>
              <a:srgbClr val="BFBFBF"/>
            </a:solidFill>
          </a:ln>
        </p:spPr>
      </p:pic>
      <p:sp>
        <p:nvSpPr>
          <p:cNvPr id="21" name="Caption"/>
          <p:cNvSpPr txBox="1"/>
          <p:nvPr/>
        </p:nvSpPr>
        <p:spPr>
          <a:xfrm>
            <a:off x="6720840" y="4786550"/>
            <a:ext cx="5166360" cy="365760"/>
          </a:xfrm>
          <a:prstGeom prst="rect">
            <a:avLst/>
          </a:prstGeom>
          <a:noFill/>
        </p:spPr>
        <p:txBody>
          <a:bodyPr wrap="square" anchor="t" lIns="36576" rIns="36576" tIns="18288" bIns="18288">
            <a:spAutoFit/>
          </a:bodyPr>
          <a:lstStyle/>
          <a:p>
            <a:pPr algn="l">
              <a:spcAft>
                <a:spcPts val="0"/>
              </a:spcAft>
            </a:pPr>
            <a:r>
              <a:rPr sz="1200" b="0" i="1">
                <a:solidFill>
                  <a:srgbClr val="595959"/>
                </a:solidFill>
                <a:latin typeface="Calibri"/>
              </a:rPr>
              <a:t>Home claim waterfall with the average clause</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4 - Risk, Review &amp; Audit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3108960" y="57036"/>
            <a:ext cx="9006840" cy="646331"/>
          </a:xfrm>
          <a:prstGeom prst="rect">
            <a:avLst/>
          </a:prstGeom>
          <a:noFill/>
        </p:spPr>
        <p:txBody>
          <a:bodyPr wrap="square" rtlCol="0">
            <a:spAutoFit/>
          </a:bodyPr>
          <a:lstStyle/>
          <a:p>
            <a:pPr algn="r"/>
            <a:r>
              <a:rPr lang="en-US" b="1" i="1" dirty="0" sz="1600">
                <a:solidFill>
                  <a:srgbClr val="FFFFFF"/>
                </a:solidFill>
              </a:rPr>
              <a:t>Claim Sense: RAG-Based Insurance Claims Adjudication &amp; Policy Knowledge Assistant</a:t>
            </a:r>
          </a:p>
        </p:txBody>
      </p:sp>
      <p:sp>
        <p:nvSpPr>
          <p:cNvPr id="19" name="Module content"/>
          <p:cNvSpPr txBox="1"/>
          <p:nvPr/>
        </p:nvSpPr>
        <p:spPr>
          <a:xfrm>
            <a:off x="320040" y="1353312"/>
            <a:ext cx="6172200" cy="3749039"/>
          </a:xfrm>
          <a:prstGeom prst="rect">
            <a:avLst/>
          </a:prstGeom>
          <a:noFill/>
        </p:spPr>
        <p:txBody>
          <a:bodyPr wrap="square" anchor="t" lIns="36576" rIns="36576" tIns="18288" bIns="18288">
            <a:spAutoFit/>
          </a:bodyPr>
          <a:lstStyle/>
          <a:p>
            <a:pPr algn="l">
              <a:spcAft>
                <a:spcPts val="800"/>
              </a:spcAft>
            </a:pPr>
            <a:r>
              <a:rPr sz="2000" b="1" i="0">
                <a:solidFill>
                  <a:srgbClr val="5583D1"/>
                </a:solidFill>
                <a:latin typeface="Calibri"/>
              </a:rPr>
              <a:t>Explainable risk signals and a human decision on every claim</a:t>
            </a:r>
          </a:p>
          <a:p>
            <a:pPr algn="l" marL="201168" indent="-201168">
              <a:spcAft>
                <a:spcPts val="800"/>
              </a:spcAft>
              <a:buChar char="•"/>
            </a:pPr>
            <a:r>
              <a:rPr sz="1600" b="0" i="0">
                <a:solidFill>
                  <a:srgbClr val="242424"/>
                </a:solidFill>
                <a:latin typeface="Calibri"/>
              </a:rPr>
              <a:t>Rule-based risk score: duplicate, early claim, high amount ratio, amount or name mismatch, missing documents, life contestable period.</a:t>
            </a:r>
          </a:p>
          <a:p>
            <a:pPr algn="l" marL="201168" indent="-201168">
              <a:spcAft>
                <a:spcPts val="800"/>
              </a:spcAft>
              <a:buChar char="•"/>
            </a:pPr>
            <a:r>
              <a:rPr sz="1600" b="0" i="0">
                <a:solidFill>
                  <a:srgbClr val="242424"/>
                </a:solidFill>
                <a:latin typeface="Calibri"/>
              </a:rPr>
              <a:t>Recommendation: reject (cite clause), request information, investigate, partial approval or approve.</a:t>
            </a:r>
          </a:p>
          <a:p>
            <a:pPr algn="l" marL="201168" indent="-201168">
              <a:spcAft>
                <a:spcPts val="800"/>
              </a:spcAft>
              <a:buChar char="•"/>
            </a:pPr>
            <a:r>
              <a:rPr sz="1600" b="0" i="0">
                <a:solidFill>
                  <a:srgbClr val="242424"/>
                </a:solidFill>
                <a:latin typeface="Calibri"/>
              </a:rPr>
              <a:t>Routed to adjuster, supervisor, SIU investigation or pending-information queues with settlement-clock tracking.</a:t>
            </a:r>
          </a:p>
          <a:p>
            <a:pPr algn="l" marL="201168" indent="-201168">
              <a:spcAft>
                <a:spcPts val="800"/>
              </a:spcAft>
              <a:buChar char="•"/>
            </a:pPr>
            <a:r>
              <a:rPr sz="1600" b="0" i="0">
                <a:solidFill>
                  <a:srgbClr val="242424"/>
                </a:solidFill>
                <a:latin typeface="Calibri"/>
              </a:rPr>
              <a:t>Role-based access: approval limits, supervisor escalation, read-only auditors; adverse decisions need notes.</a:t>
            </a:r>
          </a:p>
          <a:p>
            <a:pPr algn="l" marL="201168" indent="-201168">
              <a:spcAft>
                <a:spcPts val="800"/>
              </a:spcAft>
              <a:buChar char="•"/>
            </a:pPr>
            <a:r>
              <a:rPr sz="1600" b="0" i="0">
                <a:solidFill>
                  <a:srgbClr val="242424"/>
                </a:solidFill>
                <a:latin typeface="Calibri"/>
              </a:rPr>
              <a:t>Settlement and repudiation letters, CSV export, dashboard and a full audit trail.</a:t>
            </a:r>
          </a:p>
        </p:txBody>
      </p:sp>
      <p:pic>
        <p:nvPicPr>
          <p:cNvPr id="20" name="Screenshot - Review queue with risk, age and assignee" descr="08-review-queue.png"/>
          <p:cNvPicPr>
            <a:picLocks noChangeAspect="1"/>
          </p:cNvPicPr>
          <p:nvPr/>
        </p:nvPicPr>
        <p:blipFill>
          <a:blip r:embed="rId2"/>
          <a:stretch>
            <a:fillRect/>
          </a:stretch>
        </p:blipFill>
        <p:spPr>
          <a:xfrm>
            <a:off x="6720840" y="1463040"/>
            <a:ext cx="5166360" cy="3250359"/>
          </a:xfrm>
          <a:prstGeom prst="rect">
            <a:avLst/>
          </a:prstGeom>
          <a:ln w="9525">
            <a:solidFill>
              <a:srgbClr val="BFBFBF"/>
            </a:solidFill>
          </a:ln>
        </p:spPr>
      </p:pic>
      <p:sp>
        <p:nvSpPr>
          <p:cNvPr id="21" name="Caption"/>
          <p:cNvSpPr txBox="1"/>
          <p:nvPr/>
        </p:nvSpPr>
        <p:spPr>
          <a:xfrm>
            <a:off x="6720840" y="4786550"/>
            <a:ext cx="5166360" cy="365760"/>
          </a:xfrm>
          <a:prstGeom prst="rect">
            <a:avLst/>
          </a:prstGeom>
          <a:noFill/>
        </p:spPr>
        <p:txBody>
          <a:bodyPr wrap="square" anchor="t" lIns="36576" rIns="36576" tIns="18288" bIns="18288">
            <a:spAutoFit/>
          </a:bodyPr>
          <a:lstStyle/>
          <a:p>
            <a:pPr algn="l">
              <a:spcAft>
                <a:spcPts val="0"/>
              </a:spcAft>
            </a:pPr>
            <a:r>
              <a:rPr sz="1200" b="0" i="1">
                <a:solidFill>
                  <a:srgbClr val="595959"/>
                </a:solidFill>
                <a:latin typeface="Calibri"/>
              </a:rPr>
              <a:t>Review queue with risk, age and assignee</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Problem statement"/>
          <p:cNvSpPr/>
          <p:nvPr/>
        </p:nvSpPr>
        <p:spPr>
          <a:xfrm>
            <a:off x="320040" y="1417320"/>
            <a:ext cx="11521440" cy="12344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spcAft>
                <a:spcPts val="0"/>
              </a:spcAft>
            </a:pPr>
            <a:r>
              <a:rPr sz="1800" b="1" i="0">
                <a:solidFill>
                  <a:srgbClr val="1F3864"/>
                </a:solidFill>
                <a:latin typeface="Calibri"/>
              </a:rPr>
              <a:t>Build a claims decision-support system that reads a claim packet, finds the applicable clause in the policy version in force, calculates the payable amount exactly, flags risk, and hands a cited, auditable recommendation to a human who makes the decision.</a:t>
            </a:r>
          </a:p>
        </p:txBody>
      </p:sp>
      <p:sp>
        <p:nvSpPr>
          <p:cNvPr id="8" name="Pain point 1"/>
          <p:cNvSpPr/>
          <p:nvPr/>
        </p:nvSpPr>
        <p:spPr>
          <a:xfrm>
            <a:off x="2240280" y="2926080"/>
            <a:ext cx="4572000" cy="1371600"/>
          </a:xfrm>
          <a:prstGeom prst="roundRect">
            <a:avLst>
              <a:gd name="adj" fmla="val 12000"/>
            </a:avLst>
          </a:prstGeom>
          <a:solidFill>
            <a:srgbClr val="FFFFFF"/>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9" name="Pain icon 1"/>
          <p:cNvSpPr/>
          <p:nvPr/>
        </p:nvSpPr>
        <p:spPr>
          <a:xfrm>
            <a:off x="2404872" y="3108960"/>
            <a:ext cx="384048" cy="38404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a:t>
            </a:r>
          </a:p>
        </p:txBody>
      </p:sp>
      <p:sp>
        <p:nvSpPr>
          <p:cNvPr id="10" name="TextBox 9"/>
          <p:cNvSpPr txBox="1"/>
          <p:nvPr/>
        </p:nvSpPr>
        <p:spPr>
          <a:xfrm>
            <a:off x="2926080" y="3063240"/>
            <a:ext cx="3749039" cy="41148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Manual and slow</a:t>
            </a:r>
          </a:p>
        </p:txBody>
      </p:sp>
      <p:sp>
        <p:nvSpPr>
          <p:cNvPr id="11" name="TextBox 10"/>
          <p:cNvSpPr txBox="1"/>
          <p:nvPr/>
        </p:nvSpPr>
        <p:spPr>
          <a:xfrm>
            <a:off x="2926080" y="3493008"/>
            <a:ext cx="3749039" cy="777240"/>
          </a:xfrm>
          <a:prstGeom prst="rect">
            <a:avLst/>
          </a:prstGeom>
          <a:noFill/>
        </p:spPr>
        <p:txBody>
          <a:bodyPr wrap="square" anchor="t" lIns="36576" rIns="36576" tIns="18288" bIns="18288">
            <a:spAutoFit/>
          </a:bodyPr>
          <a:lstStyle/>
          <a:p>
            <a:pPr algn="l">
              <a:spcAft>
                <a:spcPts val="0"/>
              </a:spcAft>
            </a:pPr>
            <a:r>
              <a:rPr sz="1300" b="0" i="0">
                <a:solidFill>
                  <a:srgbClr val="242424"/>
                </a:solidFill>
                <a:latin typeface="Calibri"/>
              </a:rPr>
              <a:t>Handlers cross-check documents against long wordings with versions, sub-limits, waiting periods and exclusions.</a:t>
            </a:r>
          </a:p>
        </p:txBody>
      </p:sp>
      <p:sp>
        <p:nvSpPr>
          <p:cNvPr id="12" name="Pain point 2"/>
          <p:cNvSpPr/>
          <p:nvPr/>
        </p:nvSpPr>
        <p:spPr>
          <a:xfrm>
            <a:off x="7086600" y="2926080"/>
            <a:ext cx="4572000" cy="1371600"/>
          </a:xfrm>
          <a:prstGeom prst="roundRect">
            <a:avLst>
              <a:gd name="adj" fmla="val 12000"/>
            </a:avLst>
          </a:prstGeom>
          <a:solidFill>
            <a:srgbClr val="FFFFFF"/>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Pain icon 2"/>
          <p:cNvSpPr/>
          <p:nvPr/>
        </p:nvSpPr>
        <p:spPr>
          <a:xfrm>
            <a:off x="7251192" y="3108960"/>
            <a:ext cx="384048" cy="384048"/>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a:t>
            </a:r>
          </a:p>
        </p:txBody>
      </p:sp>
      <p:sp>
        <p:nvSpPr>
          <p:cNvPr id="14" name="TextBox 13"/>
          <p:cNvSpPr txBox="1"/>
          <p:nvPr/>
        </p:nvSpPr>
        <p:spPr>
          <a:xfrm>
            <a:off x="7772400" y="3063240"/>
            <a:ext cx="3749039" cy="41148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Inconsistent outcomes</a:t>
            </a:r>
          </a:p>
        </p:txBody>
      </p:sp>
      <p:sp>
        <p:nvSpPr>
          <p:cNvPr id="15" name="TextBox 14"/>
          <p:cNvSpPr txBox="1"/>
          <p:nvPr/>
        </p:nvSpPr>
        <p:spPr>
          <a:xfrm>
            <a:off x="7772400" y="3493008"/>
            <a:ext cx="3749039" cy="777240"/>
          </a:xfrm>
          <a:prstGeom prst="rect">
            <a:avLst/>
          </a:prstGeom>
          <a:noFill/>
        </p:spPr>
        <p:txBody>
          <a:bodyPr wrap="square" anchor="t" lIns="36576" rIns="36576" tIns="18288" bIns="18288">
            <a:spAutoFit/>
          </a:bodyPr>
          <a:lstStyle/>
          <a:p>
            <a:pPr algn="l">
              <a:spcAft>
                <a:spcPts val="0"/>
              </a:spcAft>
            </a:pPr>
            <a:r>
              <a:rPr sz="1300" b="0" i="0">
                <a:solidFill>
                  <a:srgbClr val="242424"/>
                </a:solidFill>
                <a:latin typeface="Calibri"/>
              </a:rPr>
              <a:t>The same claim can be settled differently by different handlers; rejections are hard to defend.</a:t>
            </a:r>
          </a:p>
        </p:txBody>
      </p:sp>
      <p:sp>
        <p:nvSpPr>
          <p:cNvPr id="16" name="Pain point 3"/>
          <p:cNvSpPr/>
          <p:nvPr/>
        </p:nvSpPr>
        <p:spPr>
          <a:xfrm>
            <a:off x="2240280" y="4526280"/>
            <a:ext cx="4572000" cy="1371600"/>
          </a:xfrm>
          <a:prstGeom prst="roundRect">
            <a:avLst>
              <a:gd name="adj" fmla="val 12000"/>
            </a:avLst>
          </a:prstGeom>
          <a:solidFill>
            <a:srgbClr val="FFFFFF"/>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Pain icon 3"/>
          <p:cNvSpPr/>
          <p:nvPr/>
        </p:nvSpPr>
        <p:spPr>
          <a:xfrm>
            <a:off x="2404872" y="4709160"/>
            <a:ext cx="384048" cy="384048"/>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a:t>
            </a:r>
          </a:p>
        </p:txBody>
      </p:sp>
      <p:sp>
        <p:nvSpPr>
          <p:cNvPr id="18" name="TextBox 17"/>
          <p:cNvSpPr txBox="1"/>
          <p:nvPr/>
        </p:nvSpPr>
        <p:spPr>
          <a:xfrm>
            <a:off x="2926080" y="4663440"/>
            <a:ext cx="3749039" cy="41148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LLMs alone are unsafe</a:t>
            </a:r>
          </a:p>
        </p:txBody>
      </p:sp>
      <p:sp>
        <p:nvSpPr>
          <p:cNvPr id="19" name="TextBox 18"/>
          <p:cNvSpPr txBox="1"/>
          <p:nvPr/>
        </p:nvSpPr>
        <p:spPr>
          <a:xfrm>
            <a:off x="2926080" y="5093208"/>
            <a:ext cx="3749039" cy="777240"/>
          </a:xfrm>
          <a:prstGeom prst="rect">
            <a:avLst/>
          </a:prstGeom>
          <a:noFill/>
        </p:spPr>
        <p:txBody>
          <a:bodyPr wrap="square" anchor="t" lIns="36576" rIns="36576" tIns="18288" bIns="18288">
            <a:spAutoFit/>
          </a:bodyPr>
          <a:lstStyle/>
          <a:p>
            <a:pPr algn="l">
              <a:spcAft>
                <a:spcPts val="0"/>
              </a:spcAft>
            </a:pPr>
            <a:r>
              <a:rPr sz="1300" b="0" i="0">
                <a:solidFill>
                  <a:srgbClr val="242424"/>
                </a:solidFill>
                <a:latin typeface="Calibri"/>
              </a:rPr>
              <a:t>Generic chatbots invent clauses and do arithmetic unreliably: not acceptable for money or for regulators.</a:t>
            </a:r>
          </a:p>
        </p:txBody>
      </p:sp>
      <p:sp>
        <p:nvSpPr>
          <p:cNvPr id="20" name="Pain point 4"/>
          <p:cNvSpPr/>
          <p:nvPr/>
        </p:nvSpPr>
        <p:spPr>
          <a:xfrm>
            <a:off x="7086600" y="4526280"/>
            <a:ext cx="4572000" cy="1371600"/>
          </a:xfrm>
          <a:prstGeom prst="roundRect">
            <a:avLst>
              <a:gd name="adj" fmla="val 12000"/>
            </a:avLst>
          </a:prstGeom>
          <a:solidFill>
            <a:srgbClr val="FFFFFF"/>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Pain icon 4"/>
          <p:cNvSpPr/>
          <p:nvPr/>
        </p:nvSpPr>
        <p:spPr>
          <a:xfrm>
            <a:off x="7251192" y="4709160"/>
            <a:ext cx="384048" cy="384048"/>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a:t>
            </a:r>
          </a:p>
        </p:txBody>
      </p:sp>
      <p:sp>
        <p:nvSpPr>
          <p:cNvPr id="22" name="TextBox 21"/>
          <p:cNvSpPr txBox="1"/>
          <p:nvPr/>
        </p:nvSpPr>
        <p:spPr>
          <a:xfrm>
            <a:off x="7772400" y="4663440"/>
            <a:ext cx="3749039" cy="411480"/>
          </a:xfrm>
          <a:prstGeom prst="rect">
            <a:avLst/>
          </a:prstGeom>
          <a:noFill/>
        </p:spPr>
        <p:txBody>
          <a:bodyPr wrap="square" anchor="ctr" lIns="36576" rIns="36576" tIns="18288" bIns="18288">
            <a:spAutoFit/>
          </a:bodyPr>
          <a:lstStyle/>
          <a:p>
            <a:pPr algn="l">
              <a:spcAft>
                <a:spcPts val="0"/>
              </a:spcAft>
            </a:pPr>
            <a:r>
              <a:rPr sz="1700" b="1" i="0">
                <a:solidFill>
                  <a:srgbClr val="1F3864"/>
                </a:solidFill>
                <a:latin typeface="Calibri"/>
              </a:rPr>
              <a:t>Fraud slips through</a:t>
            </a:r>
          </a:p>
        </p:txBody>
      </p:sp>
      <p:sp>
        <p:nvSpPr>
          <p:cNvPr id="23" name="TextBox 22"/>
          <p:cNvSpPr txBox="1"/>
          <p:nvPr/>
        </p:nvSpPr>
        <p:spPr>
          <a:xfrm>
            <a:off x="7772400" y="5093208"/>
            <a:ext cx="3749039" cy="777240"/>
          </a:xfrm>
          <a:prstGeom prst="rect">
            <a:avLst/>
          </a:prstGeom>
          <a:noFill/>
        </p:spPr>
        <p:txBody>
          <a:bodyPr wrap="square" anchor="t" lIns="36576" rIns="36576" tIns="18288" bIns="18288">
            <a:spAutoFit/>
          </a:bodyPr>
          <a:lstStyle/>
          <a:p>
            <a:pPr algn="l">
              <a:spcAft>
                <a:spcPts val="0"/>
              </a:spcAft>
            </a:pPr>
            <a:r>
              <a:rPr sz="1300" b="0" i="0">
                <a:solidFill>
                  <a:srgbClr val="242424"/>
                </a:solidFill>
                <a:latin typeface="Calibri"/>
              </a:rPr>
              <a:t>Duplicates, early claims and mismatched amounts need systematic, explainable signals.</a:t>
            </a:r>
          </a:p>
        </p:txBody>
      </p:sp>
      <p:sp>
        <p:nvSpPr>
          <p:cNvPr id="24" name="Pain heading"/>
          <p:cNvSpPr txBox="1"/>
          <p:nvPr/>
        </p:nvSpPr>
        <p:spPr>
          <a:xfrm>
            <a:off x="320040" y="2971800"/>
            <a:ext cx="1783080" cy="2011680"/>
          </a:xfrm>
          <a:prstGeom prst="rect">
            <a:avLst/>
          </a:prstGeom>
          <a:noFill/>
        </p:spPr>
        <p:txBody>
          <a:bodyPr wrap="square" anchor="t" lIns="36576" rIns="36576" tIns="18288" bIns="18288">
            <a:spAutoFit/>
          </a:bodyPr>
          <a:lstStyle/>
          <a:p>
            <a:pPr algn="l">
              <a:spcAft>
                <a:spcPts val="400"/>
              </a:spcAft>
            </a:pPr>
            <a:r>
              <a:rPr sz="1800" b="1" i="0">
                <a:solidFill>
                  <a:srgbClr val="1F3864"/>
                </a:solidFill>
                <a:latin typeface="Calibri"/>
              </a:rPr>
              <a:t>Today's pain points</a:t>
            </a:r>
          </a:p>
          <a:p>
            <a:pPr algn="l">
              <a:spcAft>
                <a:spcPts val="600"/>
              </a:spcAft>
            </a:pPr>
            <a:r>
              <a:rPr sz="1300" b="0" i="0">
                <a:solidFill>
                  <a:srgbClr val="595959"/>
                </a:solidFill>
                <a:latin typeface="Calibri"/>
              </a:rPr>
              <a:t>Four gaps the project closes</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 - System Architecture</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TextBox 6"/>
          <p:cNvSpPr txBox="1"/>
          <p:nvPr/>
        </p:nvSpPr>
        <p:spPr>
          <a:xfrm>
            <a:off x="274320" y="1371600"/>
            <a:ext cx="1143000" cy="548640"/>
          </a:xfrm>
          <a:prstGeom prst="rect">
            <a:avLst/>
          </a:prstGeom>
          <a:noFill/>
        </p:spPr>
        <p:txBody>
          <a:bodyPr wrap="square" anchor="ctr" lIns="36576" rIns="36576" tIns="18288" bIns="18288">
            <a:spAutoFit/>
          </a:bodyPr>
          <a:lstStyle/>
          <a:p>
            <a:pPr algn="l">
              <a:spcAft>
                <a:spcPts val="0"/>
              </a:spcAft>
            </a:pPr>
            <a:r>
              <a:rPr sz="1300" b="1" i="0">
                <a:solidFill>
                  <a:srgbClr val="595959"/>
                </a:solidFill>
                <a:latin typeface="Calibri"/>
              </a:rPr>
              <a:t>Users</a:t>
            </a:r>
          </a:p>
        </p:txBody>
      </p:sp>
      <p:sp>
        <p:nvSpPr>
          <p:cNvPr id="8" name="TextBox 7"/>
          <p:cNvSpPr txBox="1"/>
          <p:nvPr/>
        </p:nvSpPr>
        <p:spPr>
          <a:xfrm>
            <a:off x="274320" y="2148840"/>
            <a:ext cx="1143000" cy="548640"/>
          </a:xfrm>
          <a:prstGeom prst="rect">
            <a:avLst/>
          </a:prstGeom>
          <a:noFill/>
        </p:spPr>
        <p:txBody>
          <a:bodyPr wrap="square" anchor="ctr" lIns="36576" rIns="36576" tIns="18288" bIns="18288">
            <a:spAutoFit/>
          </a:bodyPr>
          <a:lstStyle/>
          <a:p>
            <a:pPr algn="l">
              <a:spcAft>
                <a:spcPts val="0"/>
              </a:spcAft>
            </a:pPr>
            <a:r>
              <a:rPr sz="1300" b="1" i="0">
                <a:solidFill>
                  <a:srgbClr val="595959"/>
                </a:solidFill>
                <a:latin typeface="Calibri"/>
              </a:rPr>
              <a:t>Presentation</a:t>
            </a:r>
          </a:p>
        </p:txBody>
      </p:sp>
      <p:sp>
        <p:nvSpPr>
          <p:cNvPr id="9" name="TextBox 8"/>
          <p:cNvSpPr txBox="1"/>
          <p:nvPr/>
        </p:nvSpPr>
        <p:spPr>
          <a:xfrm>
            <a:off x="274320" y="3017520"/>
            <a:ext cx="1143000" cy="548640"/>
          </a:xfrm>
          <a:prstGeom prst="rect">
            <a:avLst/>
          </a:prstGeom>
          <a:noFill/>
        </p:spPr>
        <p:txBody>
          <a:bodyPr wrap="square" anchor="ctr" lIns="36576" rIns="36576" tIns="18288" bIns="18288">
            <a:spAutoFit/>
          </a:bodyPr>
          <a:lstStyle/>
          <a:p>
            <a:pPr algn="l">
              <a:spcAft>
                <a:spcPts val="0"/>
              </a:spcAft>
            </a:pPr>
            <a:r>
              <a:rPr sz="1300" b="1" i="0">
                <a:solidFill>
                  <a:srgbClr val="595959"/>
                </a:solidFill>
                <a:latin typeface="Calibri"/>
              </a:rPr>
              <a:t>API</a:t>
            </a:r>
          </a:p>
        </p:txBody>
      </p:sp>
      <p:sp>
        <p:nvSpPr>
          <p:cNvPr id="10" name="TextBox 9"/>
          <p:cNvSpPr txBox="1"/>
          <p:nvPr/>
        </p:nvSpPr>
        <p:spPr>
          <a:xfrm>
            <a:off x="274320" y="3886200"/>
            <a:ext cx="1143000" cy="548640"/>
          </a:xfrm>
          <a:prstGeom prst="rect">
            <a:avLst/>
          </a:prstGeom>
          <a:noFill/>
        </p:spPr>
        <p:txBody>
          <a:bodyPr wrap="square" anchor="ctr" lIns="36576" rIns="36576" tIns="18288" bIns="18288">
            <a:spAutoFit/>
          </a:bodyPr>
          <a:lstStyle/>
          <a:p>
            <a:pPr algn="l">
              <a:spcAft>
                <a:spcPts val="0"/>
              </a:spcAft>
            </a:pPr>
            <a:r>
              <a:rPr sz="1300" b="1" i="0">
                <a:solidFill>
                  <a:srgbClr val="595959"/>
                </a:solidFill>
                <a:latin typeface="Calibri"/>
              </a:rPr>
              <a:t>Services</a:t>
            </a:r>
          </a:p>
        </p:txBody>
      </p:sp>
      <p:sp>
        <p:nvSpPr>
          <p:cNvPr id="11" name="TextBox 10"/>
          <p:cNvSpPr txBox="1"/>
          <p:nvPr/>
        </p:nvSpPr>
        <p:spPr>
          <a:xfrm>
            <a:off x="274320" y="5074920"/>
            <a:ext cx="1143000" cy="548640"/>
          </a:xfrm>
          <a:prstGeom prst="rect">
            <a:avLst/>
          </a:prstGeom>
          <a:noFill/>
        </p:spPr>
        <p:txBody>
          <a:bodyPr wrap="square" anchor="ctr" lIns="36576" rIns="36576" tIns="18288" bIns="18288">
            <a:spAutoFit/>
          </a:bodyPr>
          <a:lstStyle/>
          <a:p>
            <a:pPr algn="l">
              <a:spcAft>
                <a:spcPts val="0"/>
              </a:spcAft>
            </a:pPr>
            <a:r>
              <a:rPr sz="1300" b="1" i="0">
                <a:solidFill>
                  <a:srgbClr val="595959"/>
                </a:solidFill>
                <a:latin typeface="Calibri"/>
              </a:rPr>
              <a:t>Data</a:t>
            </a:r>
          </a:p>
        </p:txBody>
      </p:sp>
      <p:sp>
        <p:nvSpPr>
          <p:cNvPr id="12" name="User Adjuster"/>
          <p:cNvSpPr/>
          <p:nvPr/>
        </p:nvSpPr>
        <p:spPr>
          <a:xfrm>
            <a:off x="2377440" y="1371600"/>
            <a:ext cx="1874519" cy="5029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Adjuster</a:t>
            </a:r>
          </a:p>
        </p:txBody>
      </p:sp>
      <p:sp>
        <p:nvSpPr>
          <p:cNvPr id="13" name="User Supervisor"/>
          <p:cNvSpPr/>
          <p:nvPr/>
        </p:nvSpPr>
        <p:spPr>
          <a:xfrm>
            <a:off x="4526280" y="1371600"/>
            <a:ext cx="1874519" cy="5029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Supervisor</a:t>
            </a:r>
          </a:p>
        </p:txBody>
      </p:sp>
      <p:sp>
        <p:nvSpPr>
          <p:cNvPr id="14" name="User Auditor"/>
          <p:cNvSpPr/>
          <p:nvPr/>
        </p:nvSpPr>
        <p:spPr>
          <a:xfrm>
            <a:off x="6675120" y="1371600"/>
            <a:ext cx="1874519" cy="5029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Auditor</a:t>
            </a:r>
          </a:p>
        </p:txBody>
      </p:sp>
      <p:sp>
        <p:nvSpPr>
          <p:cNvPr id="15" name="Frontend"/>
          <p:cNvSpPr/>
          <p:nvPr/>
        </p:nvSpPr>
        <p:spPr>
          <a:xfrm>
            <a:off x="1463040" y="2103120"/>
            <a:ext cx="8001000" cy="640080"/>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i="0">
                <a:solidFill>
                  <a:srgbClr val="FFFFFF"/>
                </a:solidFill>
                <a:latin typeface="Calibri"/>
              </a:rPr>
              <a:t>React + TypeScript single-page app (Vite)</a:t>
            </a:r>
          </a:p>
          <a:p>
            <a:pPr algn="ctr">
              <a:spcAft>
                <a:spcPts val="0"/>
              </a:spcAft>
            </a:pPr>
            <a:r>
              <a:rPr sz="1100" b="0" i="0">
                <a:solidFill>
                  <a:srgbClr val="FFFFFF"/>
                </a:solidFill>
                <a:latin typeface="Calibri"/>
              </a:rPr>
              <a:t>Dashboard  ·  Claims  ·  New claim  ·  Review queue  ·  Policy library  ·  Assistant  ·  Audit  ·  Evaluation</a:t>
            </a:r>
          </a:p>
        </p:txBody>
      </p:sp>
      <p:sp>
        <p:nvSpPr>
          <p:cNvPr id="16" name="API"/>
          <p:cNvSpPr/>
          <p:nvPr/>
        </p:nvSpPr>
        <p:spPr>
          <a:xfrm>
            <a:off x="1463040" y="2971800"/>
            <a:ext cx="8001000" cy="59436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FFFFFF"/>
                </a:solidFill>
                <a:latin typeface="Calibri"/>
              </a:rPr>
              <a:t>FastAPI REST API  /api/v1   ·   sign-in tokens and roles   ·   security headers</a:t>
            </a:r>
          </a:p>
        </p:txBody>
      </p:sp>
      <p:sp>
        <p:nvSpPr>
          <p:cNvPr id="17" name="Service Agent Supervisor"/>
          <p:cNvSpPr/>
          <p:nvPr/>
        </p:nvSpPr>
        <p:spPr>
          <a:xfrm>
            <a:off x="1463040" y="3794760"/>
            <a:ext cx="1883664" cy="10058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Agent Supervisor</a:t>
            </a:r>
          </a:p>
          <a:p>
            <a:pPr algn="ctr">
              <a:spcAft>
                <a:spcPts val="0"/>
              </a:spcAft>
            </a:pPr>
            <a:r>
              <a:rPr sz="1100" b="0" i="0">
                <a:solidFill>
                  <a:srgbClr val="242424"/>
                </a:solidFill>
                <a:latin typeface="Calibri"/>
              </a:rPr>
              <a:t>8 agents, tool calls logged, fails safely</a:t>
            </a:r>
          </a:p>
        </p:txBody>
      </p:sp>
      <p:sp>
        <p:nvSpPr>
          <p:cNvPr id="18" name="Service Hybrid RAG"/>
          <p:cNvSpPr/>
          <p:nvPr/>
        </p:nvSpPr>
        <p:spPr>
          <a:xfrm>
            <a:off x="3502152" y="3794760"/>
            <a:ext cx="1883664" cy="10058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Hybrid RAG</a:t>
            </a:r>
          </a:p>
          <a:p>
            <a:pPr algn="ctr">
              <a:spcAft>
                <a:spcPts val="0"/>
              </a:spcAft>
            </a:pPr>
            <a:r>
              <a:rPr sz="1100" b="0" i="0">
                <a:solidFill>
                  <a:srgbClr val="242424"/>
                </a:solidFill>
                <a:latin typeface="Calibri"/>
              </a:rPr>
              <a:t>BM25 + char n-gram, version match</a:t>
            </a:r>
          </a:p>
        </p:txBody>
      </p:sp>
      <p:sp>
        <p:nvSpPr>
          <p:cNvPr id="19" name="Service Rules Engine"/>
          <p:cNvSpPr/>
          <p:nvPr/>
        </p:nvSpPr>
        <p:spPr>
          <a:xfrm>
            <a:off x="5541264" y="3794760"/>
            <a:ext cx="1883664" cy="10058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Rules Engine</a:t>
            </a:r>
          </a:p>
          <a:p>
            <a:pPr algn="ctr">
              <a:spcAft>
                <a:spcPts val="0"/>
              </a:spcAft>
            </a:pPr>
            <a:r>
              <a:rPr sz="1100" b="0" i="0">
                <a:solidFill>
                  <a:srgbClr val="242424"/>
                </a:solidFill>
                <a:latin typeface="Calibri"/>
              </a:rPr>
              <a:t>Decimal waterfall with clause refs</a:t>
            </a:r>
          </a:p>
        </p:txBody>
      </p:sp>
      <p:sp>
        <p:nvSpPr>
          <p:cNvPr id="20" name="Service Review &amp; Letters"/>
          <p:cNvSpPr/>
          <p:nvPr/>
        </p:nvSpPr>
        <p:spPr>
          <a:xfrm>
            <a:off x="7580375" y="3794760"/>
            <a:ext cx="1883664" cy="100584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1F3864"/>
                </a:solidFill>
                <a:latin typeface="Calibri"/>
              </a:rPr>
              <a:t>Review &amp; Letters</a:t>
            </a:r>
          </a:p>
          <a:p>
            <a:pPr algn="ctr">
              <a:spcAft>
                <a:spcPts val="0"/>
              </a:spcAft>
            </a:pPr>
            <a:r>
              <a:rPr sz="1100" b="0" i="0">
                <a:solidFill>
                  <a:srgbClr val="242424"/>
                </a:solidFill>
                <a:latin typeface="Calibri"/>
              </a:rPr>
              <a:t>queues, SLA, letters, analytics</a:t>
            </a:r>
          </a:p>
        </p:txBody>
      </p:sp>
      <p:sp>
        <p:nvSpPr>
          <p:cNvPr id="21" name="Data PostgreSQL / SQLite"/>
          <p:cNvSpPr/>
          <p:nvPr/>
        </p:nvSpPr>
        <p:spPr>
          <a:xfrm>
            <a:off x="2148840" y="5029200"/>
            <a:ext cx="1737360" cy="960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548235"/>
                </a:solidFill>
                <a:latin typeface="Calibri"/>
              </a:rPr>
              <a:t>PostgreSQL / SQLite</a:t>
            </a:r>
          </a:p>
          <a:p>
            <a:pPr algn="ctr">
              <a:spcAft>
                <a:spcPts val="0"/>
              </a:spcAft>
            </a:pPr>
            <a:r>
              <a:rPr sz="1050" b="0" i="0">
                <a:solidFill>
                  <a:srgbClr val="242424"/>
                </a:solidFill>
                <a:latin typeface="Calibri"/>
              </a:rPr>
              <a:t>claims, facts, runs, decisions, tasks, audit</a:t>
            </a:r>
          </a:p>
        </p:txBody>
      </p:sp>
      <p:sp>
        <p:nvSpPr>
          <p:cNvPr id="22" name="Data Policy corpus"/>
          <p:cNvSpPr/>
          <p:nvPr/>
        </p:nvSpPr>
        <p:spPr>
          <a:xfrm>
            <a:off x="4023360" y="5029200"/>
            <a:ext cx="1737360" cy="960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548235"/>
                </a:solidFill>
                <a:latin typeface="Calibri"/>
              </a:rPr>
              <a:t>Policy corpus</a:t>
            </a:r>
          </a:p>
          <a:p>
            <a:pPr algn="ctr">
              <a:spcAft>
                <a:spcPts val="0"/>
              </a:spcAft>
            </a:pPr>
            <a:r>
              <a:rPr sz="1050" b="0" i="0">
                <a:solidFill>
                  <a:srgbClr val="242424"/>
                </a:solidFill>
                <a:latin typeface="Calibri"/>
              </a:rPr>
              <a:t>7 wordings + structured terms, PDF ingestion</a:t>
            </a:r>
          </a:p>
        </p:txBody>
      </p:sp>
      <p:sp>
        <p:nvSpPr>
          <p:cNvPr id="23" name="Data Document storage"/>
          <p:cNvSpPr/>
          <p:nvPr/>
        </p:nvSpPr>
        <p:spPr>
          <a:xfrm>
            <a:off x="5897879" y="5029200"/>
            <a:ext cx="1737360" cy="960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548235"/>
                </a:solidFill>
                <a:latin typeface="Calibri"/>
              </a:rPr>
              <a:t>Document storage</a:t>
            </a:r>
          </a:p>
          <a:p>
            <a:pPr algn="ctr">
              <a:spcAft>
                <a:spcPts val="0"/>
              </a:spcAft>
            </a:pPr>
            <a:r>
              <a:rPr sz="1050" b="0" i="0">
                <a:solidFill>
                  <a:srgbClr val="242424"/>
                </a:solidFill>
                <a:latin typeface="Calibri"/>
              </a:rPr>
              <a:t>uploaded claim files</a:t>
            </a:r>
          </a:p>
        </p:txBody>
      </p:sp>
      <p:sp>
        <p:nvSpPr>
          <p:cNvPr id="24" name="Data Source registry"/>
          <p:cNvSpPr/>
          <p:nvPr/>
        </p:nvSpPr>
        <p:spPr>
          <a:xfrm>
            <a:off x="7772400" y="5029200"/>
            <a:ext cx="1737360" cy="9601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548235"/>
                </a:solidFill>
                <a:latin typeface="Calibri"/>
              </a:rPr>
              <a:t>Source registry</a:t>
            </a:r>
          </a:p>
          <a:p>
            <a:pPr algn="ctr">
              <a:spcAft>
                <a:spcPts val="0"/>
              </a:spcAft>
            </a:pPr>
            <a:r>
              <a:rPr sz="1050" b="0" i="0">
                <a:solidFill>
                  <a:srgbClr val="242424"/>
                </a:solidFill>
                <a:latin typeface="Calibri"/>
              </a:rPr>
              <a:t>SHA-256 provenance, RAG manifest</a:t>
            </a:r>
          </a:p>
        </p:txBody>
      </p:sp>
      <p:cxnSp>
        <p:nvCxnSpPr>
          <p:cNvPr id="25" name="Connector 24"/>
          <p:cNvCxnSpPr/>
          <p:nvPr/>
        </p:nvCxnSpPr>
        <p:spPr>
          <a:xfrm>
            <a:off x="3291840" y="1874519"/>
            <a:ext cx="0" cy="228601"/>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440680" y="1874519"/>
            <a:ext cx="0" cy="228601"/>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589520" y="1874519"/>
            <a:ext cx="0" cy="228601"/>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58968" y="274320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404872" y="356616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43983" y="356616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483096" y="356616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22208" y="356616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017520" y="480060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892040" y="480060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766559" y="480060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41080" y="4800600"/>
            <a:ext cx="0" cy="22860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LLM panel"/>
          <p:cNvSpPr/>
          <p:nvPr/>
        </p:nvSpPr>
        <p:spPr>
          <a:xfrm>
            <a:off x="9738360" y="1371600"/>
            <a:ext cx="2148840" cy="2240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400" b="1" i="0">
                <a:solidFill>
                  <a:srgbClr val="1F3864"/>
                </a:solidFill>
                <a:latin typeface="Calibri"/>
              </a:rPr>
              <a:t>Optional LLM</a:t>
            </a:r>
          </a:p>
          <a:p>
            <a:pPr algn="ctr">
              <a:spcAft>
                <a:spcPts val="0"/>
              </a:spcAft>
            </a:pPr>
            <a:r>
              <a:rPr sz="1100" b="0" i="0">
                <a:solidFill>
                  <a:srgbClr val="242424"/>
                </a:solidFill>
                <a:latin typeface="Calibri"/>
              </a:rPr>
              <a:t>Writes the explanation narrative only. Off by default: answers are extractive. Never decides or calculates.</a:t>
            </a:r>
          </a:p>
        </p:txBody>
      </p:sp>
      <p:sp>
        <p:nvSpPr>
          <p:cNvPr id="38" name="Delivery panel"/>
          <p:cNvSpPr/>
          <p:nvPr/>
        </p:nvSpPr>
        <p:spPr>
          <a:xfrm>
            <a:off x="9738360" y="3749039"/>
            <a:ext cx="2148840" cy="2240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400" b="1" i="0">
                <a:solidFill>
                  <a:srgbClr val="1F3864"/>
                </a:solidFill>
                <a:latin typeface="Calibri"/>
              </a:rPr>
              <a:t>Delivery</a:t>
            </a:r>
          </a:p>
          <a:p>
            <a:pPr algn="ctr">
              <a:spcAft>
                <a:spcPts val="0"/>
              </a:spcAft>
            </a:pPr>
            <a:r>
              <a:rPr sz="1100" b="0" i="0">
                <a:solidFill>
                  <a:srgbClr val="242424"/>
                </a:solidFill>
                <a:latin typeface="Calibri"/>
              </a:rPr>
              <a:t>One Docker image (UI built into the API). GitHub Actions CI. Live on Render; a verify-deployment workflow snapshots the live claims and runs the smoke test.</a:t>
            </a:r>
          </a:p>
        </p:txBody>
      </p:sp>
      <p:cxnSp>
        <p:nvCxnSpPr>
          <p:cNvPr id="39" name="Connector 38"/>
          <p:cNvCxnSpPr/>
          <p:nvPr/>
        </p:nvCxnSpPr>
        <p:spPr>
          <a:xfrm flipH="1">
            <a:off x="9464040" y="4297680"/>
            <a:ext cx="27432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 - Claim Workflow</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Step Upload"/>
          <p:cNvSpPr/>
          <p:nvPr/>
        </p:nvSpPr>
        <p:spPr>
          <a:xfrm>
            <a:off x="411480" y="1463040"/>
            <a:ext cx="2057400" cy="9601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Upload</a:t>
            </a:r>
          </a:p>
          <a:p>
            <a:pPr algn="ctr">
              <a:spcAft>
                <a:spcPts val="0"/>
              </a:spcAft>
            </a:pPr>
            <a:r>
              <a:rPr sz="1200" b="0" i="0">
                <a:solidFill>
                  <a:srgbClr val="FFFFFF"/>
                </a:solidFill>
                <a:latin typeface="Calibri"/>
              </a:rPr>
              <a:t>claim packet</a:t>
            </a:r>
          </a:p>
        </p:txBody>
      </p:sp>
      <p:cxnSp>
        <p:nvCxnSpPr>
          <p:cNvPr id="8" name="Connector 7"/>
          <p:cNvCxnSpPr/>
          <p:nvPr/>
        </p:nvCxnSpPr>
        <p:spPr>
          <a:xfrm>
            <a:off x="2468880" y="193852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Step 0 Document"/>
          <p:cNvSpPr/>
          <p:nvPr/>
        </p:nvSpPr>
        <p:spPr>
          <a:xfrm>
            <a:off x="2761488" y="1463040"/>
            <a:ext cx="2057400" cy="960120"/>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0 Document</a:t>
            </a:r>
          </a:p>
          <a:p>
            <a:pPr algn="ctr">
              <a:spcAft>
                <a:spcPts val="0"/>
              </a:spcAft>
            </a:pPr>
            <a:r>
              <a:rPr sz="1200" b="0" i="0">
                <a:solidFill>
                  <a:srgbClr val="FFFFFF"/>
                </a:solidFill>
                <a:latin typeface="Calibri"/>
              </a:rPr>
              <a:t>classify, extract</a:t>
            </a:r>
          </a:p>
        </p:txBody>
      </p:sp>
      <p:cxnSp>
        <p:nvCxnSpPr>
          <p:cNvPr id="10" name="Connector 9"/>
          <p:cNvCxnSpPr/>
          <p:nvPr/>
        </p:nvCxnSpPr>
        <p:spPr>
          <a:xfrm>
            <a:off x="4818888" y="193852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tep 1 Intake"/>
          <p:cNvSpPr/>
          <p:nvPr/>
        </p:nvSpPr>
        <p:spPr>
          <a:xfrm>
            <a:off x="5111496" y="1463040"/>
            <a:ext cx="2057400" cy="960120"/>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1 Intake</a:t>
            </a:r>
          </a:p>
          <a:p>
            <a:pPr algn="ctr">
              <a:spcAft>
                <a:spcPts val="0"/>
              </a:spcAft>
            </a:pPr>
            <a:r>
              <a:rPr sz="1200" b="0" i="0">
                <a:solidFill>
                  <a:srgbClr val="FFFFFF"/>
                </a:solidFill>
                <a:latin typeface="Calibri"/>
              </a:rPr>
              <a:t>consolidate facts</a:t>
            </a:r>
          </a:p>
        </p:txBody>
      </p:sp>
      <p:cxnSp>
        <p:nvCxnSpPr>
          <p:cNvPr id="12" name="Connector 11"/>
          <p:cNvCxnSpPr/>
          <p:nvPr/>
        </p:nvCxnSpPr>
        <p:spPr>
          <a:xfrm>
            <a:off x="7168896" y="193852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Step 2 Policy"/>
          <p:cNvSpPr/>
          <p:nvPr/>
        </p:nvSpPr>
        <p:spPr>
          <a:xfrm>
            <a:off x="7461503" y="1463040"/>
            <a:ext cx="2057400" cy="960120"/>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2 Policy</a:t>
            </a:r>
          </a:p>
          <a:p>
            <a:pPr algn="ctr">
              <a:spcAft>
                <a:spcPts val="0"/>
              </a:spcAft>
            </a:pPr>
            <a:r>
              <a:rPr sz="1200" b="0" i="0">
                <a:solidFill>
                  <a:srgbClr val="FFFFFF"/>
                </a:solidFill>
                <a:latin typeface="Calibri"/>
              </a:rPr>
              <a:t>version + RAG</a:t>
            </a:r>
          </a:p>
        </p:txBody>
      </p:sp>
      <p:cxnSp>
        <p:nvCxnSpPr>
          <p:cNvPr id="14" name="Connector 13"/>
          <p:cNvCxnSpPr/>
          <p:nvPr/>
        </p:nvCxnSpPr>
        <p:spPr>
          <a:xfrm>
            <a:off x="9518903" y="193852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tep 3 Coverage"/>
          <p:cNvSpPr/>
          <p:nvPr/>
        </p:nvSpPr>
        <p:spPr>
          <a:xfrm>
            <a:off x="9811511" y="1463040"/>
            <a:ext cx="2057400" cy="960120"/>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3 Coverage</a:t>
            </a:r>
          </a:p>
          <a:p>
            <a:pPr algn="ctr">
              <a:spcAft>
                <a:spcPts val="0"/>
              </a:spcAft>
            </a:pPr>
            <a:r>
              <a:rPr sz="1200" b="0" i="0">
                <a:solidFill>
                  <a:srgbClr val="FFFFFF"/>
                </a:solidFill>
                <a:latin typeface="Calibri"/>
              </a:rPr>
              <a:t>waiting, exclusions</a:t>
            </a:r>
          </a:p>
        </p:txBody>
      </p:sp>
      <p:cxnSp>
        <p:nvCxnSpPr>
          <p:cNvPr id="16" name="Connector 15"/>
          <p:cNvCxnSpPr/>
          <p:nvPr/>
        </p:nvCxnSpPr>
        <p:spPr>
          <a:xfrm>
            <a:off x="10840211" y="2423160"/>
            <a:ext cx="0" cy="50292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tep 4 Adjudicate"/>
          <p:cNvSpPr/>
          <p:nvPr/>
        </p:nvSpPr>
        <p:spPr>
          <a:xfrm>
            <a:off x="9811511" y="2926080"/>
            <a:ext cx="2057400" cy="960120"/>
          </a:xfrm>
          <a:prstGeom prst="roundRect">
            <a:avLst>
              <a:gd name="adj" fmla="val 12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4 Adjudicate</a:t>
            </a:r>
          </a:p>
          <a:p>
            <a:pPr algn="ctr">
              <a:spcAft>
                <a:spcPts val="0"/>
              </a:spcAft>
            </a:pPr>
            <a:r>
              <a:rPr sz="1200" b="0" i="0">
                <a:solidFill>
                  <a:srgbClr val="FFFFFF"/>
                </a:solidFill>
                <a:latin typeface="Calibri"/>
              </a:rPr>
              <a:t>Decimal waterfall</a:t>
            </a:r>
          </a:p>
        </p:txBody>
      </p:sp>
      <p:cxnSp>
        <p:nvCxnSpPr>
          <p:cNvPr id="18" name="Connector 17"/>
          <p:cNvCxnSpPr/>
          <p:nvPr/>
        </p:nvCxnSpPr>
        <p:spPr>
          <a:xfrm flipH="1">
            <a:off x="9518903" y="340156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5 Risk"/>
          <p:cNvSpPr/>
          <p:nvPr/>
        </p:nvSpPr>
        <p:spPr>
          <a:xfrm>
            <a:off x="7461503" y="2926080"/>
            <a:ext cx="2057400" cy="960120"/>
          </a:xfrm>
          <a:prstGeom prst="roundRect">
            <a:avLst>
              <a:gd name="adj" fmla="val 12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5 Risk</a:t>
            </a:r>
          </a:p>
          <a:p>
            <a:pPr algn="ctr">
              <a:spcAft>
                <a:spcPts val="0"/>
              </a:spcAft>
            </a:pPr>
            <a:r>
              <a:rPr sz="1200" b="0" i="0">
                <a:solidFill>
                  <a:srgbClr val="FFFFFF"/>
                </a:solidFill>
                <a:latin typeface="Calibri"/>
              </a:rPr>
              <a:t>fraud signals</a:t>
            </a:r>
          </a:p>
        </p:txBody>
      </p:sp>
      <p:cxnSp>
        <p:nvCxnSpPr>
          <p:cNvPr id="20" name="Connector 19"/>
          <p:cNvCxnSpPr/>
          <p:nvPr/>
        </p:nvCxnSpPr>
        <p:spPr>
          <a:xfrm flipH="1">
            <a:off x="7168895" y="340156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tep 6 Evidence"/>
          <p:cNvSpPr/>
          <p:nvPr/>
        </p:nvSpPr>
        <p:spPr>
          <a:xfrm>
            <a:off x="5111496" y="2926080"/>
            <a:ext cx="2057400" cy="960120"/>
          </a:xfrm>
          <a:prstGeom prst="roundRect">
            <a:avLst>
              <a:gd name="adj" fmla="val 12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6 Evidence</a:t>
            </a:r>
          </a:p>
          <a:p>
            <a:pPr algn="ctr">
              <a:spcAft>
                <a:spcPts val="0"/>
              </a:spcAft>
            </a:pPr>
            <a:r>
              <a:rPr sz="1200" b="0" i="0">
                <a:solidFill>
                  <a:srgbClr val="FFFFFF"/>
                </a:solidFill>
                <a:latin typeface="Calibri"/>
              </a:rPr>
              <a:t>recommendation</a:t>
            </a:r>
          </a:p>
        </p:txBody>
      </p:sp>
      <p:cxnSp>
        <p:nvCxnSpPr>
          <p:cNvPr id="22" name="Connector 21"/>
          <p:cNvCxnSpPr/>
          <p:nvPr/>
        </p:nvCxnSpPr>
        <p:spPr>
          <a:xfrm flipH="1">
            <a:off x="4818888" y="340156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tep 7 Review"/>
          <p:cNvSpPr/>
          <p:nvPr/>
        </p:nvSpPr>
        <p:spPr>
          <a:xfrm>
            <a:off x="2761488" y="2926080"/>
            <a:ext cx="2057400" cy="960120"/>
          </a:xfrm>
          <a:prstGeom prst="roundRect">
            <a:avLst>
              <a:gd name="adj" fmla="val 12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7 Review</a:t>
            </a:r>
          </a:p>
          <a:p>
            <a:pPr algn="ctr">
              <a:spcAft>
                <a:spcPts val="0"/>
              </a:spcAft>
            </a:pPr>
            <a:r>
              <a:rPr sz="1200" b="0" i="0">
                <a:solidFill>
                  <a:srgbClr val="FFFFFF"/>
                </a:solidFill>
                <a:latin typeface="Calibri"/>
              </a:rPr>
              <a:t>route to queue</a:t>
            </a:r>
          </a:p>
        </p:txBody>
      </p:sp>
      <p:cxnSp>
        <p:nvCxnSpPr>
          <p:cNvPr id="24" name="Connector 23"/>
          <p:cNvCxnSpPr/>
          <p:nvPr/>
        </p:nvCxnSpPr>
        <p:spPr>
          <a:xfrm flipH="1">
            <a:off x="2468880" y="3401568"/>
            <a:ext cx="29260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Step 8 Audit"/>
          <p:cNvSpPr/>
          <p:nvPr/>
        </p:nvSpPr>
        <p:spPr>
          <a:xfrm>
            <a:off x="411480" y="2926080"/>
            <a:ext cx="2057400" cy="960120"/>
          </a:xfrm>
          <a:prstGeom prst="roundRect">
            <a:avLst>
              <a:gd name="adj" fmla="val 12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8 Audit</a:t>
            </a:r>
          </a:p>
          <a:p>
            <a:pPr algn="ctr">
              <a:spcAft>
                <a:spcPts val="0"/>
              </a:spcAft>
            </a:pPr>
            <a:r>
              <a:rPr sz="1200" b="0" i="0">
                <a:solidFill>
                  <a:srgbClr val="FFFFFF"/>
                </a:solidFill>
                <a:latin typeface="Calibri"/>
              </a:rPr>
              <a:t>record event</a:t>
            </a:r>
          </a:p>
        </p:txBody>
      </p:sp>
      <p:sp>
        <p:nvSpPr>
          <p:cNvPr id="26" name="Human decision"/>
          <p:cNvSpPr/>
          <p:nvPr/>
        </p:nvSpPr>
        <p:spPr>
          <a:xfrm>
            <a:off x="411480" y="4206240"/>
            <a:ext cx="2057400" cy="960120"/>
          </a:xfrm>
          <a:prstGeom prst="roundRect">
            <a:avLst>
              <a:gd name="adj" fmla="val 12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Human decision</a:t>
            </a:r>
          </a:p>
          <a:p>
            <a:pPr algn="ctr">
              <a:spcAft>
                <a:spcPts val="0"/>
              </a:spcAft>
            </a:pPr>
            <a:r>
              <a:rPr sz="1200" b="0" i="0">
                <a:solidFill>
                  <a:srgbClr val="FFFFFF"/>
                </a:solidFill>
                <a:latin typeface="Calibri"/>
              </a:rPr>
              <a:t>approve, reject, ask, investigate</a:t>
            </a:r>
          </a:p>
        </p:txBody>
      </p:sp>
      <p:cxnSp>
        <p:nvCxnSpPr>
          <p:cNvPr id="27" name="Connector 26"/>
          <p:cNvCxnSpPr/>
          <p:nvPr/>
        </p:nvCxnSpPr>
        <p:spPr>
          <a:xfrm>
            <a:off x="1440180" y="3886200"/>
            <a:ext cx="0" cy="32004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Letter"/>
          <p:cNvSpPr/>
          <p:nvPr/>
        </p:nvSpPr>
        <p:spPr>
          <a:xfrm>
            <a:off x="2788920" y="4206240"/>
            <a:ext cx="2057400" cy="960120"/>
          </a:xfrm>
          <a:prstGeom prst="roundRect">
            <a:avLst>
              <a:gd name="adj" fmla="val 12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i="0">
                <a:solidFill>
                  <a:srgbClr val="FFFFFF"/>
                </a:solidFill>
                <a:latin typeface="Calibri"/>
              </a:rPr>
              <a:t>Letter + audit</a:t>
            </a:r>
          </a:p>
          <a:p>
            <a:pPr algn="ctr">
              <a:spcAft>
                <a:spcPts val="0"/>
              </a:spcAft>
            </a:pPr>
            <a:r>
              <a:rPr sz="1200" b="0" i="0">
                <a:solidFill>
                  <a:srgbClr val="FFFFFF"/>
                </a:solidFill>
                <a:latin typeface="Calibri"/>
              </a:rPr>
              <a:t>settlement or repudiation</a:t>
            </a:r>
          </a:p>
        </p:txBody>
      </p:sp>
      <p:cxnSp>
        <p:nvCxnSpPr>
          <p:cNvPr id="29" name="Connector 28"/>
          <p:cNvCxnSpPr/>
          <p:nvPr/>
        </p:nvCxnSpPr>
        <p:spPr>
          <a:xfrm>
            <a:off x="2468880" y="4681728"/>
            <a:ext cx="32004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Decision rules"/>
          <p:cNvSpPr/>
          <p:nvPr/>
        </p:nvSpPr>
        <p:spPr>
          <a:xfrm>
            <a:off x="5166360" y="4069080"/>
            <a:ext cx="6720840" cy="19659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F3864"/>
                </a:solidFill>
                <a:latin typeface="Calibri"/>
              </a:rPr>
              <a:t>Recommendation rules (checked in order)</a:t>
            </a:r>
          </a:p>
          <a:p>
            <a:pPr algn="l">
              <a:spcAft>
                <a:spcPts val="200"/>
              </a:spcAft>
            </a:pPr>
            <a:r>
              <a:rPr sz="1300" b="0" i="0">
                <a:solidFill>
                  <a:srgbClr val="242424"/>
                </a:solidFill>
                <a:latin typeface="Calibri"/>
              </a:rPr>
              <a:t>1. Not covered  -&gt;  recommend reject, citing the failing clause</a:t>
            </a:r>
          </a:p>
          <a:p>
            <a:pPr algn="l">
              <a:spcAft>
                <a:spcPts val="200"/>
              </a:spcAft>
            </a:pPr>
            <a:r>
              <a:rPr sz="1300" b="0" i="0">
                <a:solidFill>
                  <a:srgbClr val="242424"/>
                </a:solidFill>
                <a:latin typeface="Calibri"/>
              </a:rPr>
              <a:t>2. Missing documents  -&gt;  request information</a:t>
            </a:r>
          </a:p>
          <a:p>
            <a:pPr algn="l">
              <a:spcAft>
                <a:spcPts val="200"/>
              </a:spcAft>
            </a:pPr>
            <a:r>
              <a:rPr sz="1300" b="0" i="0">
                <a:solidFill>
                  <a:srgbClr val="242424"/>
                </a:solidFill>
                <a:latin typeface="Calibri"/>
              </a:rPr>
              <a:t>3. High risk score  -&gt;  investigate (SIU queue)</a:t>
            </a:r>
          </a:p>
          <a:p>
            <a:pPr algn="l">
              <a:spcAft>
                <a:spcPts val="200"/>
              </a:spcAft>
            </a:pPr>
            <a:r>
              <a:rPr sz="1300" b="0" i="0">
                <a:solidFill>
                  <a:srgbClr val="242424"/>
                </a:solidFill>
                <a:latin typeface="Calibri"/>
              </a:rPr>
              <a:t>4. Payable below claimed  -&gt;  partial approval; otherwise approve</a:t>
            </a:r>
          </a:p>
          <a:p>
            <a:pPr algn="l">
              <a:spcAft>
                <a:spcPts val="0"/>
              </a:spcAft>
            </a:pPr>
            <a:r>
              <a:rPr sz="1200" b="0" i="1">
                <a:solidFill>
                  <a:srgbClr val="595959"/>
                </a:solidFill>
                <a:latin typeface="Calibri"/>
              </a:rPr>
              <a:t>Any agent error stops the run safely and marks the claim for attention.</a:t>
            </a: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 Algorithms / Tools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Algorithms panel"/>
          <p:cNvSpPr/>
          <p:nvPr/>
        </p:nvSpPr>
        <p:spPr>
          <a:xfrm>
            <a:off x="320040" y="1417320"/>
            <a:ext cx="3657600" cy="361188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Algorithms heading"/>
          <p:cNvSpPr/>
          <p:nvPr/>
        </p:nvSpPr>
        <p:spPr>
          <a:xfrm>
            <a:off x="502920" y="1581912"/>
            <a:ext cx="3291840" cy="457200"/>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700" b="1" i="0">
                <a:solidFill>
                  <a:srgbClr val="FFFFFF"/>
                </a:solidFill>
                <a:latin typeface="Calibri"/>
              </a:rPr>
              <a:t>Algorithms</a:t>
            </a:r>
          </a:p>
        </p:txBody>
      </p:sp>
      <p:sp>
        <p:nvSpPr>
          <p:cNvPr id="9" name="Algorithms list"/>
          <p:cNvSpPr txBox="1"/>
          <p:nvPr/>
        </p:nvSpPr>
        <p:spPr>
          <a:xfrm>
            <a:off x="502920" y="2167128"/>
            <a:ext cx="3337560" cy="2743200"/>
          </a:xfrm>
          <a:prstGeom prst="rect">
            <a:avLst/>
          </a:prstGeom>
          <a:noFill/>
        </p:spPr>
        <p:txBody>
          <a:bodyPr wrap="square" anchor="t" lIns="36576" rIns="36576" tIns="18288" bIns="18288">
            <a:spAutoFit/>
          </a:bodyPr>
          <a:lstStyle/>
          <a:p>
            <a:pPr algn="l" marL="201168" indent="-201168">
              <a:spcAft>
                <a:spcPts val="600"/>
              </a:spcAft>
              <a:buChar char="•"/>
            </a:pPr>
            <a:r>
              <a:rPr sz="1350" b="0" i="0">
                <a:solidFill>
                  <a:srgbClr val="242424"/>
                </a:solidFill>
                <a:latin typeface="Calibri"/>
              </a:rPr>
              <a:t>Hybrid retrieval: BM25 (weight 1.5) + TF-IDF over character 3-5 grams (weight 1.0), fused by weighted reciprocal rank</a:t>
            </a:r>
          </a:p>
          <a:p>
            <a:pPr algn="l" marL="201168" indent="-201168">
              <a:spcAft>
                <a:spcPts val="600"/>
              </a:spcAft>
              <a:buChar char="•"/>
            </a:pPr>
            <a:r>
              <a:rPr sz="1350" b="0" i="0">
                <a:solidFill>
                  <a:srgbClr val="242424"/>
                </a:solidFill>
                <a:latin typeface="Calibri"/>
              </a:rPr>
              <a:t>Policy version matching by incident date</a:t>
            </a:r>
          </a:p>
          <a:p>
            <a:pPr algn="l" marL="201168" indent="-201168">
              <a:spcAft>
                <a:spcPts val="600"/>
              </a:spcAft>
              <a:buChar char="•"/>
            </a:pPr>
            <a:r>
              <a:rPr sz="1350" b="0" i="0">
                <a:solidFill>
                  <a:srgbClr val="242424"/>
                </a:solidFill>
                <a:latin typeface="Calibri"/>
              </a:rPr>
              <a:t>Rules waterfall in Python Decimal, rounded to paise</a:t>
            </a:r>
          </a:p>
          <a:p>
            <a:pPr algn="l" marL="201168" indent="-201168">
              <a:spcAft>
                <a:spcPts val="600"/>
              </a:spcAft>
              <a:buChar char="•"/>
            </a:pPr>
            <a:r>
              <a:rPr sz="1350" b="0" i="0">
                <a:solidFill>
                  <a:srgbClr val="242424"/>
                </a:solidFill>
                <a:latin typeface="Calibri"/>
              </a:rPr>
              <a:t>Weighted risk rules: score 0-100, Low / Medium (25+) / High (50+)</a:t>
            </a:r>
          </a:p>
          <a:p>
            <a:pPr algn="l" marL="201168" indent="-201168">
              <a:spcAft>
                <a:spcPts val="600"/>
              </a:spcAft>
              <a:buChar char="•"/>
            </a:pPr>
            <a:r>
              <a:rPr sz="1350" b="0" i="0">
                <a:solidFill>
                  <a:srgbClr val="242424"/>
                </a:solidFill>
                <a:latin typeface="Calibri"/>
              </a:rPr>
              <a:t>Refusal below a minimum retrieval score</a:t>
            </a:r>
          </a:p>
        </p:txBody>
      </p:sp>
      <p:sp>
        <p:nvSpPr>
          <p:cNvPr id="10" name="Tools &amp; Stack panel"/>
          <p:cNvSpPr/>
          <p:nvPr/>
        </p:nvSpPr>
        <p:spPr>
          <a:xfrm>
            <a:off x="4206240" y="1417320"/>
            <a:ext cx="3657600" cy="3611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ools &amp; Stack heading"/>
          <p:cNvSpPr/>
          <p:nvPr/>
        </p:nvSpPr>
        <p:spPr>
          <a:xfrm>
            <a:off x="4389120" y="1581912"/>
            <a:ext cx="3291840" cy="45720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700" b="1" i="0">
                <a:solidFill>
                  <a:srgbClr val="FFFFFF"/>
                </a:solidFill>
                <a:latin typeface="Calibri"/>
              </a:rPr>
              <a:t>Tools &amp; Stack</a:t>
            </a:r>
          </a:p>
        </p:txBody>
      </p:sp>
      <p:sp>
        <p:nvSpPr>
          <p:cNvPr id="12" name="Tools &amp; Stack list"/>
          <p:cNvSpPr txBox="1"/>
          <p:nvPr/>
        </p:nvSpPr>
        <p:spPr>
          <a:xfrm>
            <a:off x="4389120" y="2167128"/>
            <a:ext cx="3337560" cy="2743200"/>
          </a:xfrm>
          <a:prstGeom prst="rect">
            <a:avLst/>
          </a:prstGeom>
          <a:noFill/>
        </p:spPr>
        <p:txBody>
          <a:bodyPr wrap="square" anchor="t" lIns="36576" rIns="36576" tIns="18288" bIns="18288">
            <a:spAutoFit/>
          </a:bodyPr>
          <a:lstStyle/>
          <a:p>
            <a:pPr algn="l" marL="201168" indent="-201168">
              <a:spcAft>
                <a:spcPts val="600"/>
              </a:spcAft>
              <a:buChar char="•"/>
            </a:pPr>
            <a:r>
              <a:rPr sz="1350" b="0" i="0">
                <a:solidFill>
                  <a:srgbClr val="242424"/>
                </a:solidFill>
                <a:latin typeface="Calibri"/>
              </a:rPr>
              <a:t>Python 3, FastAPI, SQLAlchemy, Pydantic</a:t>
            </a:r>
          </a:p>
          <a:p>
            <a:pPr algn="l" marL="201168" indent="-201168">
              <a:spcAft>
                <a:spcPts val="600"/>
              </a:spcAft>
              <a:buChar char="•"/>
            </a:pPr>
            <a:r>
              <a:rPr sz="1350" b="0" i="0">
                <a:solidFill>
                  <a:srgbClr val="242424"/>
                </a:solidFill>
                <a:latin typeface="Calibri"/>
              </a:rPr>
              <a:t>PostgreSQL (Docker Compose) and SQLite</a:t>
            </a:r>
          </a:p>
          <a:p>
            <a:pPr algn="l" marL="201168" indent="-201168">
              <a:spcAft>
                <a:spcPts val="600"/>
              </a:spcAft>
              <a:buChar char="•"/>
            </a:pPr>
            <a:r>
              <a:rPr sz="1350" b="0" i="0">
                <a:solidFill>
                  <a:srgbClr val="242424"/>
                </a:solidFill>
                <a:latin typeface="Calibri"/>
              </a:rPr>
              <a:t>pypdf for PDF text extraction</a:t>
            </a:r>
          </a:p>
          <a:p>
            <a:pPr algn="l" marL="201168" indent="-201168">
              <a:spcAft>
                <a:spcPts val="600"/>
              </a:spcAft>
              <a:buChar char="•"/>
            </a:pPr>
            <a:r>
              <a:rPr sz="1350" b="0" i="0">
                <a:solidFill>
                  <a:srgbClr val="242424"/>
                </a:solidFill>
                <a:latin typeface="Calibri"/>
              </a:rPr>
              <a:t>React, TypeScript, Vite</a:t>
            </a:r>
          </a:p>
          <a:p>
            <a:pPr algn="l" marL="201168" indent="-201168">
              <a:spcAft>
                <a:spcPts val="600"/>
              </a:spcAft>
              <a:buChar char="•"/>
            </a:pPr>
            <a:r>
              <a:rPr sz="1350" b="0" i="0">
                <a:solidFill>
                  <a:srgbClr val="242424"/>
                </a:solidFill>
                <a:latin typeface="Calibri"/>
              </a:rPr>
              <a:t>Docker, Render, GitHub Actions</a:t>
            </a:r>
          </a:p>
          <a:p>
            <a:pPr algn="l" marL="201168" indent="-201168">
              <a:spcAft>
                <a:spcPts val="600"/>
              </a:spcAft>
              <a:buChar char="•"/>
            </a:pPr>
            <a:r>
              <a:rPr sz="1350" b="0" i="0">
                <a:solidFill>
                  <a:srgbClr val="242424"/>
                </a:solidFill>
                <a:latin typeface="Calibri"/>
              </a:rPr>
              <a:t>pytest, Playwright, ruff</a:t>
            </a:r>
          </a:p>
        </p:txBody>
      </p:sp>
      <p:sp>
        <p:nvSpPr>
          <p:cNvPr id="13" name="Data &amp; Evaluation panel"/>
          <p:cNvSpPr/>
          <p:nvPr/>
        </p:nvSpPr>
        <p:spPr>
          <a:xfrm>
            <a:off x="8092440" y="1417320"/>
            <a:ext cx="3657600" cy="361188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Data &amp; Evaluation heading"/>
          <p:cNvSpPr/>
          <p:nvPr/>
        </p:nvSpPr>
        <p:spPr>
          <a:xfrm>
            <a:off x="8275319" y="1581912"/>
            <a:ext cx="3291840" cy="457200"/>
          </a:xfrm>
          <a:prstGeom prst="roundRect">
            <a:avLst>
              <a:gd name="adj" fmla="val 12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700" b="1" i="0">
                <a:solidFill>
                  <a:srgbClr val="FFFFFF"/>
                </a:solidFill>
                <a:latin typeface="Calibri"/>
              </a:rPr>
              <a:t>Data &amp; Evaluation</a:t>
            </a:r>
          </a:p>
        </p:txBody>
      </p:sp>
      <p:sp>
        <p:nvSpPr>
          <p:cNvPr id="15" name="Data &amp; Evaluation list"/>
          <p:cNvSpPr txBox="1"/>
          <p:nvPr/>
        </p:nvSpPr>
        <p:spPr>
          <a:xfrm>
            <a:off x="8275319" y="2167128"/>
            <a:ext cx="3337560" cy="2743200"/>
          </a:xfrm>
          <a:prstGeom prst="rect">
            <a:avLst/>
          </a:prstGeom>
          <a:noFill/>
        </p:spPr>
        <p:txBody>
          <a:bodyPr wrap="square" anchor="t" lIns="36576" rIns="36576" tIns="18288" bIns="18288">
            <a:spAutoFit/>
          </a:bodyPr>
          <a:lstStyle/>
          <a:p>
            <a:pPr algn="l" marL="201168" indent="-201168">
              <a:spcAft>
                <a:spcPts val="600"/>
              </a:spcAft>
              <a:buChar char="•"/>
            </a:pPr>
            <a:r>
              <a:rPr sz="1350" b="0" i="0">
                <a:solidFill>
                  <a:srgbClr val="242424"/>
                </a:solidFill>
                <a:latin typeface="Calibri"/>
              </a:rPr>
              <a:t>Synthetic only: 7 policy wordings across 6 lines</a:t>
            </a:r>
          </a:p>
          <a:p>
            <a:pPr algn="l" marL="201168" indent="-201168">
              <a:spcAft>
                <a:spcPts val="600"/>
              </a:spcAft>
              <a:buChar char="•"/>
            </a:pPr>
            <a:r>
              <a:rPr sz="1350" b="0" i="0">
                <a:solidFill>
                  <a:srgbClr val="242424"/>
                </a:solidFill>
                <a:latin typeface="Calibri"/>
              </a:rPr>
              <a:t>72 claim packets; 10,000-claim synthetic portfolio</a:t>
            </a:r>
          </a:p>
          <a:p>
            <a:pPr algn="l" marL="201168" indent="-201168">
              <a:spcAft>
                <a:spcPts val="600"/>
              </a:spcAft>
              <a:buChar char="•"/>
            </a:pPr>
            <a:r>
              <a:rPr sz="1350" b="0" i="0">
                <a:solidFill>
                  <a:srgbClr val="242424"/>
                </a:solidFill>
                <a:latin typeface="Calibri"/>
              </a:rPr>
              <a:t>Golden set: 72 claim cases + 30 questions, worked by hand</a:t>
            </a:r>
          </a:p>
          <a:p>
            <a:pPr algn="l" marL="201168" indent="-201168">
              <a:spcAft>
                <a:spcPts val="600"/>
              </a:spcAft>
              <a:buChar char="•"/>
            </a:pPr>
            <a:r>
              <a:rPr sz="1350" b="0" i="0">
                <a:solidFill>
                  <a:srgbClr val="242424"/>
                </a:solidFill>
                <a:latin typeface="Calibri"/>
              </a:rPr>
              <a:t>SHA-256 source registry; CAS Schedule P industry benchmark (not used in decisions)</a:t>
            </a:r>
          </a:p>
          <a:p>
            <a:pPr algn="l" marL="201168" indent="-201168">
              <a:spcAft>
                <a:spcPts val="600"/>
              </a:spcAft>
              <a:buChar char="•"/>
            </a:pPr>
            <a:r>
              <a:rPr sz="1350" b="0" i="0">
                <a:solidFill>
                  <a:srgbClr val="242424"/>
                </a:solidFill>
                <a:latin typeface="Calibri"/>
              </a:rPr>
              <a:t>CI fails on any failed check</a:t>
            </a: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Claims</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Stat 1"/>
          <p:cNvSpPr/>
          <p:nvPr/>
        </p:nvSpPr>
        <p:spPr>
          <a:xfrm>
            <a:off x="320040" y="1371600"/>
            <a:ext cx="2697480" cy="118872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411479" y="1417320"/>
            <a:ext cx="2514600" cy="640080"/>
          </a:xfrm>
          <a:prstGeom prst="rect">
            <a:avLst/>
          </a:prstGeom>
          <a:noFill/>
        </p:spPr>
        <p:txBody>
          <a:bodyPr wrap="square" anchor="ctr" lIns="36576" rIns="36576" tIns="18288" bIns="18288">
            <a:spAutoFit/>
          </a:bodyPr>
          <a:lstStyle/>
          <a:p>
            <a:pPr algn="ctr">
              <a:spcAft>
                <a:spcPts val="0"/>
              </a:spcAft>
            </a:pPr>
            <a:r>
              <a:rPr sz="3000" b="1" i="0">
                <a:solidFill>
                  <a:srgbClr val="2E75B6"/>
                </a:solidFill>
                <a:latin typeface="Calibri"/>
              </a:rPr>
              <a:t>72</a:t>
            </a:r>
          </a:p>
        </p:txBody>
      </p:sp>
      <p:sp>
        <p:nvSpPr>
          <p:cNvPr id="9" name="TextBox 8"/>
          <p:cNvSpPr txBox="1"/>
          <p:nvPr/>
        </p:nvSpPr>
        <p:spPr>
          <a:xfrm>
            <a:off x="411479" y="2011680"/>
            <a:ext cx="2514600" cy="457200"/>
          </a:xfrm>
          <a:prstGeom prst="rect">
            <a:avLst/>
          </a:prstGeom>
          <a:noFill/>
        </p:spPr>
        <p:txBody>
          <a:bodyPr wrap="square" anchor="t" lIns="36576" rIns="36576" tIns="18288" bIns="18288">
            <a:spAutoFit/>
          </a:bodyPr>
          <a:lstStyle/>
          <a:p>
            <a:pPr algn="ctr">
              <a:spcAft>
                <a:spcPts val="0"/>
              </a:spcAft>
            </a:pPr>
            <a:r>
              <a:rPr sz="1300" b="0" i="0">
                <a:solidFill>
                  <a:srgbClr val="242424"/>
                </a:solidFill>
                <a:latin typeface="Calibri"/>
              </a:rPr>
              <a:t>claims across 6 lines</a:t>
            </a:r>
          </a:p>
        </p:txBody>
      </p:sp>
      <p:sp>
        <p:nvSpPr>
          <p:cNvPr id="10" name="Stat 2"/>
          <p:cNvSpPr/>
          <p:nvPr/>
        </p:nvSpPr>
        <p:spPr>
          <a:xfrm>
            <a:off x="3218688" y="1371600"/>
            <a:ext cx="2697480" cy="11887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3310128" y="1417320"/>
            <a:ext cx="2514600" cy="640080"/>
          </a:xfrm>
          <a:prstGeom prst="rect">
            <a:avLst/>
          </a:prstGeom>
          <a:noFill/>
        </p:spPr>
        <p:txBody>
          <a:bodyPr wrap="square" anchor="ctr" lIns="36576" rIns="36576" tIns="18288" bIns="18288">
            <a:spAutoFit/>
          </a:bodyPr>
          <a:lstStyle/>
          <a:p>
            <a:pPr algn="ctr">
              <a:spcAft>
                <a:spcPts val="0"/>
              </a:spcAft>
            </a:pPr>
            <a:r>
              <a:rPr sz="3000" b="1" i="0">
                <a:solidFill>
                  <a:srgbClr val="548235"/>
                </a:solidFill>
                <a:latin typeface="Calibri"/>
              </a:rPr>
              <a:t>₹2.22 Cr</a:t>
            </a:r>
          </a:p>
        </p:txBody>
      </p:sp>
      <p:sp>
        <p:nvSpPr>
          <p:cNvPr id="12" name="TextBox 11"/>
          <p:cNvSpPr txBox="1"/>
          <p:nvPr/>
        </p:nvSpPr>
        <p:spPr>
          <a:xfrm>
            <a:off x="3310128" y="2011680"/>
            <a:ext cx="2514600" cy="457200"/>
          </a:xfrm>
          <a:prstGeom prst="rect">
            <a:avLst/>
          </a:prstGeom>
          <a:noFill/>
        </p:spPr>
        <p:txBody>
          <a:bodyPr wrap="square" anchor="t" lIns="36576" rIns="36576" tIns="18288" bIns="18288">
            <a:spAutoFit/>
          </a:bodyPr>
          <a:lstStyle/>
          <a:p>
            <a:pPr algn="ctr">
              <a:spcAft>
                <a:spcPts val="0"/>
              </a:spcAft>
            </a:pPr>
            <a:r>
              <a:rPr sz="1300" b="0" i="0">
                <a:solidFill>
                  <a:srgbClr val="242424"/>
                </a:solidFill>
                <a:latin typeface="Calibri"/>
              </a:rPr>
              <a:t>billed</a:t>
            </a:r>
          </a:p>
        </p:txBody>
      </p:sp>
      <p:sp>
        <p:nvSpPr>
          <p:cNvPr id="13" name="Stat 3"/>
          <p:cNvSpPr/>
          <p:nvPr/>
        </p:nvSpPr>
        <p:spPr>
          <a:xfrm>
            <a:off x="6117336" y="1371600"/>
            <a:ext cx="2697480" cy="1188720"/>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4" name="TextBox 13"/>
          <p:cNvSpPr txBox="1"/>
          <p:nvPr/>
        </p:nvSpPr>
        <p:spPr>
          <a:xfrm>
            <a:off x="6208775" y="1417320"/>
            <a:ext cx="2514600" cy="640080"/>
          </a:xfrm>
          <a:prstGeom prst="rect">
            <a:avLst/>
          </a:prstGeom>
          <a:noFill/>
        </p:spPr>
        <p:txBody>
          <a:bodyPr wrap="square" anchor="ctr" lIns="36576" rIns="36576" tIns="18288" bIns="18288">
            <a:spAutoFit/>
          </a:bodyPr>
          <a:lstStyle/>
          <a:p>
            <a:pPr algn="ctr">
              <a:spcAft>
                <a:spcPts val="0"/>
              </a:spcAft>
            </a:pPr>
            <a:r>
              <a:rPr sz="3000" b="1" i="0">
                <a:solidFill>
                  <a:srgbClr val="2E75B6"/>
                </a:solidFill>
                <a:latin typeface="Calibri"/>
              </a:rPr>
              <a:t>₹1.62 Cr</a:t>
            </a:r>
          </a:p>
        </p:txBody>
      </p:sp>
      <p:sp>
        <p:nvSpPr>
          <p:cNvPr id="15" name="TextBox 14"/>
          <p:cNvSpPr txBox="1"/>
          <p:nvPr/>
        </p:nvSpPr>
        <p:spPr>
          <a:xfrm>
            <a:off x="6208775" y="2011680"/>
            <a:ext cx="2514600" cy="457200"/>
          </a:xfrm>
          <a:prstGeom prst="rect">
            <a:avLst/>
          </a:prstGeom>
          <a:noFill/>
        </p:spPr>
        <p:txBody>
          <a:bodyPr wrap="square" anchor="t" lIns="36576" rIns="36576" tIns="18288" bIns="18288">
            <a:spAutoFit/>
          </a:bodyPr>
          <a:lstStyle/>
          <a:p>
            <a:pPr algn="ctr">
              <a:spcAft>
                <a:spcPts val="0"/>
              </a:spcAft>
            </a:pPr>
            <a:r>
              <a:rPr sz="1300" b="0" i="0">
                <a:solidFill>
                  <a:srgbClr val="242424"/>
                </a:solidFill>
                <a:latin typeface="Calibri"/>
              </a:rPr>
              <a:t>recommended payable (72.9%)</a:t>
            </a:r>
          </a:p>
        </p:txBody>
      </p:sp>
      <p:sp>
        <p:nvSpPr>
          <p:cNvPr id="16" name="Stat 4"/>
          <p:cNvSpPr/>
          <p:nvPr/>
        </p:nvSpPr>
        <p:spPr>
          <a:xfrm>
            <a:off x="9015984" y="1371600"/>
            <a:ext cx="2697480" cy="1188720"/>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7" name="TextBox 16"/>
          <p:cNvSpPr txBox="1"/>
          <p:nvPr/>
        </p:nvSpPr>
        <p:spPr>
          <a:xfrm>
            <a:off x="9107424" y="1417320"/>
            <a:ext cx="2514600" cy="640080"/>
          </a:xfrm>
          <a:prstGeom prst="rect">
            <a:avLst/>
          </a:prstGeom>
          <a:noFill/>
        </p:spPr>
        <p:txBody>
          <a:bodyPr wrap="square" anchor="ctr" lIns="36576" rIns="36576" tIns="18288" bIns="18288">
            <a:spAutoFit/>
          </a:bodyPr>
          <a:lstStyle/>
          <a:p>
            <a:pPr algn="ctr">
              <a:spcAft>
                <a:spcPts val="0"/>
              </a:spcAft>
            </a:pPr>
            <a:r>
              <a:rPr sz="3000" b="1" i="0">
                <a:solidFill>
                  <a:srgbClr val="548235"/>
                </a:solidFill>
                <a:latin typeface="Calibri"/>
              </a:rPr>
              <a:t>986/986</a:t>
            </a:r>
          </a:p>
        </p:txBody>
      </p:sp>
      <p:sp>
        <p:nvSpPr>
          <p:cNvPr id="18" name="TextBox 17"/>
          <p:cNvSpPr txBox="1"/>
          <p:nvPr/>
        </p:nvSpPr>
        <p:spPr>
          <a:xfrm>
            <a:off x="9107424" y="2011680"/>
            <a:ext cx="2514600" cy="457200"/>
          </a:xfrm>
          <a:prstGeom prst="rect">
            <a:avLst/>
          </a:prstGeom>
          <a:noFill/>
        </p:spPr>
        <p:txBody>
          <a:bodyPr wrap="square" anchor="t" lIns="36576" rIns="36576" tIns="18288" bIns="18288">
            <a:spAutoFit/>
          </a:bodyPr>
          <a:lstStyle/>
          <a:p>
            <a:pPr algn="ctr">
              <a:spcAft>
                <a:spcPts val="0"/>
              </a:spcAft>
            </a:pPr>
            <a:r>
              <a:rPr sz="1300" b="0" i="0">
                <a:solidFill>
                  <a:srgbClr val="242424"/>
                </a:solidFill>
                <a:latin typeface="Calibri"/>
              </a:rPr>
              <a:t>golden checks passed</a:t>
            </a:r>
          </a:p>
        </p:txBody>
      </p:sp>
      <p:graphicFrame>
        <p:nvGraphicFramePr>
          <p:cNvPr id="19" name="Billed vs payable chart"/>
          <p:cNvGraphicFramePr>
            <a:graphicFrameLocks noGrp="1"/>
          </p:cNvGraphicFramePr>
          <p:nvPr/>
        </p:nvGraphicFramePr>
        <p:xfrm>
          <a:off x="2194560" y="2743200"/>
          <a:ext cx="5669280" cy="3429000"/>
        </p:xfrm>
        <a:graphic>
          <a:graphicData uri="http://schemas.openxmlformats.org/drawingml/2006/chart">
            <c:chart xmlns:c="http://schemas.openxmlformats.org/drawingml/2006/chart" r:id="rId2"/>
          </a:graphicData>
        </a:graphic>
      </p:graphicFrame>
      <p:sp>
        <p:nvSpPr>
          <p:cNvPr id="20" name="Recommendations panel"/>
          <p:cNvSpPr/>
          <p:nvPr/>
        </p:nvSpPr>
        <p:spPr>
          <a:xfrm>
            <a:off x="8092440" y="2743200"/>
            <a:ext cx="3794760" cy="34290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F3864"/>
                </a:solidFill>
                <a:latin typeface="Calibri"/>
              </a:rPr>
              <a:t>Recommendations</a:t>
            </a:r>
          </a:p>
          <a:p>
            <a:pPr algn="l">
              <a:spcAft>
                <a:spcPts val="100"/>
              </a:spcAft>
            </a:pPr>
            <a:r>
              <a:rPr sz="1300" b="0" i="0">
                <a:solidFill>
                  <a:srgbClr val="242424"/>
                </a:solidFill>
                <a:latin typeface="Calibri"/>
              </a:rPr>
              <a:t>Partial approval: 33</a:t>
            </a:r>
          </a:p>
          <a:p>
            <a:pPr algn="l">
              <a:spcAft>
                <a:spcPts val="100"/>
              </a:spcAft>
            </a:pPr>
            <a:r>
              <a:rPr sz="1300" b="0" i="0">
                <a:solidFill>
                  <a:srgbClr val="242424"/>
                </a:solidFill>
                <a:latin typeface="Calibri"/>
              </a:rPr>
              <a:t>Reject with cited clause: 25</a:t>
            </a:r>
          </a:p>
          <a:p>
            <a:pPr algn="l">
              <a:spcAft>
                <a:spcPts val="100"/>
              </a:spcAft>
            </a:pPr>
            <a:r>
              <a:rPr sz="1300" b="0" i="0">
                <a:solidFill>
                  <a:srgbClr val="242424"/>
                </a:solidFill>
                <a:latin typeface="Calibri"/>
              </a:rPr>
              <a:t>Request information: 6</a:t>
            </a:r>
          </a:p>
          <a:p>
            <a:pPr algn="l">
              <a:spcAft>
                <a:spcPts val="600"/>
              </a:spcAft>
            </a:pPr>
            <a:r>
              <a:rPr sz="1300" b="0" i="0">
                <a:solidFill>
                  <a:srgbClr val="242424"/>
                </a:solidFill>
                <a:latin typeface="Calibri"/>
              </a:rPr>
              <a:t>Investigate: 4  ·  Approve: 4</a:t>
            </a:r>
          </a:p>
          <a:p>
            <a:pPr algn="l">
              <a:spcAft>
                <a:spcPts val="800"/>
              </a:spcAft>
            </a:pPr>
            <a:r>
              <a:rPr sz="1200" b="0" i="0">
                <a:solidFill>
                  <a:srgbClr val="242424"/>
                </a:solidFill>
                <a:latin typeface="Calibri"/>
              </a:rPr>
              <a:t>Every claim went to a human review queue; the system decided none. Every exclusion, waiting period and limit in the wordings is exercised by at least one claim.</a:t>
            </a:r>
          </a:p>
          <a:p>
            <a:pPr algn="l">
              <a:spcAft>
                <a:spcPts val="400"/>
              </a:spcAft>
            </a:pPr>
            <a:r>
              <a:rPr sz="1500" b="1" i="0">
                <a:solidFill>
                  <a:srgbClr val="1F3864"/>
                </a:solidFill>
                <a:latin typeface="Calibri"/>
              </a:rPr>
              <a:t>Live site, 30 Oct 2026</a:t>
            </a:r>
          </a:p>
          <a:p>
            <a:pPr algn="l">
              <a:spcAft>
                <a:spcPts val="0"/>
              </a:spcAft>
            </a:pPr>
            <a:r>
              <a:rPr sz="1200" b="0" i="0">
                <a:solidFill>
                  <a:srgbClr val="242424"/>
                </a:solidFill>
                <a:latin typeface="Calibri"/>
              </a:rPr>
              <a:t>The figures above are the live snapshot. They match the repository's prediction to the rupee, and the smoke test then filed and assessed one new claim on each line.</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Quality and Deployment</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graphicFrame>
        <p:nvGraphicFramePr>
          <p:cNvPr id="7" name="Table 6"/>
          <p:cNvGraphicFramePr>
            <a:graphicFrameLocks noGrp="1"/>
          </p:cNvGraphicFramePr>
          <p:nvPr/>
        </p:nvGraphicFramePr>
        <p:xfrm>
          <a:off x="320040" y="1417320"/>
          <a:ext cx="4846320" cy="3072384"/>
        </p:xfrm>
        <a:graphic>
          <a:graphicData uri="http://schemas.openxmlformats.org/drawingml/2006/table">
            <a:tbl>
              <a:tblPr firstRow="1" bandRow="1">
                <a:tableStyleId>{5C22544A-7EE6-4342-B048-85BDC9FD1C3A}</a:tableStyleId>
              </a:tblPr>
              <a:tblGrid>
                <a:gridCol w="3291840"/>
                <a:gridCol w="1554480"/>
              </a:tblGrid>
              <a:tr h="384048">
                <a:tc>
                  <a:txBody>
                    <a:bodyPr/>
                    <a:lstStyle/>
                    <a:p>
                      <a:pPr algn="l"/>
                      <a:r>
                        <a:rPr sz="1300" b="1">
                          <a:solidFill>
                            <a:srgbClr val="FFFFFF"/>
                          </a:solidFill>
                        </a:rPr>
                        <a:t>Golden evaluation dimension</a:t>
                      </a:r>
                    </a:p>
                  </a:txBody>
                  <a:tcPr marT="36576" marB="36576">
                    <a:solidFill>
                      <a:srgbClr val="1F3864"/>
                    </a:solidFill>
                  </a:tcPr>
                </a:tc>
                <a:tc>
                  <a:txBody>
                    <a:bodyPr/>
                    <a:lstStyle/>
                    <a:p>
                      <a:pPr algn="r"/>
                      <a:r>
                        <a:rPr sz="1300" b="1">
                          <a:solidFill>
                            <a:srgbClr val="FFFFFF"/>
                          </a:solidFill>
                        </a:rPr>
                        <a:t>Checks passed</a:t>
                      </a:r>
                    </a:p>
                  </a:txBody>
                  <a:tcPr marT="36576" marB="36576">
                    <a:solidFill>
                      <a:srgbClr val="1F3864"/>
                    </a:solidFill>
                  </a:tcPr>
                </a:tc>
              </a:tr>
              <a:tr h="384048">
                <a:tc>
                  <a:txBody>
                    <a:bodyPr/>
                    <a:lstStyle/>
                    <a:p>
                      <a:pPr algn="l"/>
                      <a:r>
                        <a:rPr sz="1300" b="0">
                          <a:solidFill>
                            <a:srgbClr val="242424"/>
                          </a:solidFill>
                        </a:rPr>
                        <a:t>Retrieval correctness</a:t>
                      </a:r>
                    </a:p>
                  </a:txBody>
                  <a:tcPr marT="36576" marB="36576">
                    <a:solidFill>
                      <a:srgbClr val="DEEBF7"/>
                    </a:solidFill>
                  </a:tcPr>
                </a:tc>
                <a:tc>
                  <a:txBody>
                    <a:bodyPr/>
                    <a:lstStyle/>
                    <a:p>
                      <a:pPr algn="r"/>
                      <a:r>
                        <a:rPr sz="1300" b="0">
                          <a:solidFill>
                            <a:srgbClr val="242424"/>
                          </a:solidFill>
                        </a:rPr>
                        <a:t>130/130</a:t>
                      </a:r>
                    </a:p>
                  </a:txBody>
                  <a:tcPr marT="36576" marB="36576">
                    <a:solidFill>
                      <a:srgbClr val="DEEBF7"/>
                    </a:solidFill>
                  </a:tcPr>
                </a:tc>
              </a:tr>
              <a:tr h="384048">
                <a:tc>
                  <a:txBody>
                    <a:bodyPr/>
                    <a:lstStyle/>
                    <a:p>
                      <a:pPr algn="l"/>
                      <a:r>
                        <a:rPr sz="1300" b="0">
                          <a:solidFill>
                            <a:srgbClr val="242424"/>
                          </a:solidFill>
                        </a:rPr>
                        <a:t>Citation correctness</a:t>
                      </a:r>
                    </a:p>
                  </a:txBody>
                  <a:tcPr marT="36576" marB="36576">
                    <a:solidFill>
                      <a:srgbClr val="FFFFFF"/>
                    </a:solidFill>
                  </a:tcPr>
                </a:tc>
                <a:tc>
                  <a:txBody>
                    <a:bodyPr/>
                    <a:lstStyle/>
                    <a:p>
                      <a:pPr algn="r"/>
                      <a:r>
                        <a:rPr sz="1300" b="0">
                          <a:solidFill>
                            <a:srgbClr val="242424"/>
                          </a:solidFill>
                        </a:rPr>
                        <a:t>80/80</a:t>
                      </a:r>
                    </a:p>
                  </a:txBody>
                  <a:tcPr marT="36576" marB="36576">
                    <a:solidFill>
                      <a:srgbClr val="FFFFFF"/>
                    </a:solidFill>
                  </a:tcPr>
                </a:tc>
              </a:tr>
              <a:tr h="384048">
                <a:tc>
                  <a:txBody>
                    <a:bodyPr/>
                    <a:lstStyle/>
                    <a:p>
                      <a:pPr algn="l"/>
                      <a:r>
                        <a:rPr sz="1300" b="0">
                          <a:solidFill>
                            <a:srgbClr val="242424"/>
                          </a:solidFill>
                        </a:rPr>
                        <a:t>Groundedness</a:t>
                      </a:r>
                    </a:p>
                  </a:txBody>
                  <a:tcPr marT="36576" marB="36576">
                    <a:solidFill>
                      <a:srgbClr val="DEEBF7"/>
                    </a:solidFill>
                  </a:tcPr>
                </a:tc>
                <a:tc>
                  <a:txBody>
                    <a:bodyPr/>
                    <a:lstStyle/>
                    <a:p>
                      <a:pPr algn="r"/>
                      <a:r>
                        <a:rPr sz="1300" b="0">
                          <a:solidFill>
                            <a:srgbClr val="242424"/>
                          </a:solidFill>
                        </a:rPr>
                        <a:t>156/156</a:t>
                      </a:r>
                    </a:p>
                  </a:txBody>
                  <a:tcPr marT="36576" marB="36576">
                    <a:solidFill>
                      <a:srgbClr val="DEEBF7"/>
                    </a:solidFill>
                  </a:tcPr>
                </a:tc>
              </a:tr>
              <a:tr h="384048">
                <a:tc>
                  <a:txBody>
                    <a:bodyPr/>
                    <a:lstStyle/>
                    <a:p>
                      <a:pPr algn="l"/>
                      <a:r>
                        <a:rPr sz="1300" b="0">
                          <a:solidFill>
                            <a:srgbClr val="242424"/>
                          </a:solidFill>
                        </a:rPr>
                        <a:t>Coverage state</a:t>
                      </a:r>
                    </a:p>
                  </a:txBody>
                  <a:tcPr marT="36576" marB="36576">
                    <a:solidFill>
                      <a:srgbClr val="FFFFFF"/>
                    </a:solidFill>
                  </a:tcPr>
                </a:tc>
                <a:tc>
                  <a:txBody>
                    <a:bodyPr/>
                    <a:lstStyle/>
                    <a:p>
                      <a:pPr algn="r"/>
                      <a:r>
                        <a:rPr sz="1300" b="0">
                          <a:solidFill>
                            <a:srgbClr val="242424"/>
                          </a:solidFill>
                        </a:rPr>
                        <a:t>143/143</a:t>
                      </a:r>
                    </a:p>
                  </a:txBody>
                  <a:tcPr marT="36576" marB="36576">
                    <a:solidFill>
                      <a:srgbClr val="FFFFFF"/>
                    </a:solidFill>
                  </a:tcPr>
                </a:tc>
              </a:tr>
              <a:tr h="384048">
                <a:tc>
                  <a:txBody>
                    <a:bodyPr/>
                    <a:lstStyle/>
                    <a:p>
                      <a:pPr algn="l"/>
                      <a:r>
                        <a:rPr sz="1300" b="0">
                          <a:solidFill>
                            <a:srgbClr val="242424"/>
                          </a:solidFill>
                        </a:rPr>
                        <a:t>Adjudication amount</a:t>
                      </a:r>
                    </a:p>
                  </a:txBody>
                  <a:tcPr marT="36576" marB="36576">
                    <a:solidFill>
                      <a:srgbClr val="DEEBF7"/>
                    </a:solidFill>
                  </a:tcPr>
                </a:tc>
                <a:tc>
                  <a:txBody>
                    <a:bodyPr/>
                    <a:lstStyle/>
                    <a:p>
                      <a:pPr algn="r"/>
                      <a:r>
                        <a:rPr sz="1300" b="0">
                          <a:solidFill>
                            <a:srgbClr val="242424"/>
                          </a:solidFill>
                        </a:rPr>
                        <a:t>182/182</a:t>
                      </a:r>
                    </a:p>
                  </a:txBody>
                  <a:tcPr marT="36576" marB="36576">
                    <a:solidFill>
                      <a:srgbClr val="DEEBF7"/>
                    </a:solidFill>
                  </a:tcPr>
                </a:tc>
              </a:tr>
              <a:tr h="384048">
                <a:tc>
                  <a:txBody>
                    <a:bodyPr/>
                    <a:lstStyle/>
                    <a:p>
                      <a:pPr algn="l"/>
                      <a:r>
                        <a:rPr sz="1300" b="0">
                          <a:solidFill>
                            <a:srgbClr val="242424"/>
                          </a:solidFill>
                        </a:rPr>
                        <a:t>Risk classification</a:t>
                      </a:r>
                    </a:p>
                  </a:txBody>
                  <a:tcPr marT="36576" marB="36576">
                    <a:solidFill>
                      <a:srgbClr val="FFFFFF"/>
                    </a:solidFill>
                  </a:tcPr>
                </a:tc>
                <a:tc>
                  <a:txBody>
                    <a:bodyPr/>
                    <a:lstStyle/>
                    <a:p>
                      <a:pPr algn="r"/>
                      <a:r>
                        <a:rPr sz="1300" b="0">
                          <a:solidFill>
                            <a:srgbClr val="242424"/>
                          </a:solidFill>
                        </a:rPr>
                        <a:t>79/79</a:t>
                      </a:r>
                    </a:p>
                  </a:txBody>
                  <a:tcPr marT="36576" marB="36576">
                    <a:solidFill>
                      <a:srgbClr val="FFFFFF"/>
                    </a:solidFill>
                  </a:tcPr>
                </a:tc>
              </a:tr>
              <a:tr h="384048">
                <a:tc>
                  <a:txBody>
                    <a:bodyPr/>
                    <a:lstStyle/>
                    <a:p>
                      <a:pPr algn="l"/>
                      <a:r>
                        <a:rPr sz="1300" b="0">
                          <a:solidFill>
                            <a:srgbClr val="242424"/>
                          </a:solidFill>
                        </a:rPr>
                        <a:t>Workflow outcome</a:t>
                      </a:r>
                    </a:p>
                  </a:txBody>
                  <a:tcPr marT="36576" marB="36576">
                    <a:solidFill>
                      <a:srgbClr val="DEEBF7"/>
                    </a:solidFill>
                  </a:tcPr>
                </a:tc>
                <a:tc>
                  <a:txBody>
                    <a:bodyPr/>
                    <a:lstStyle/>
                    <a:p>
                      <a:pPr algn="r"/>
                      <a:r>
                        <a:rPr sz="1300" b="0">
                          <a:solidFill>
                            <a:srgbClr val="242424"/>
                          </a:solidFill>
                        </a:rPr>
                        <a:t>216/216</a:t>
                      </a:r>
                    </a:p>
                  </a:txBody>
                  <a:tcPr marT="36576" marB="36576">
                    <a:solidFill>
                      <a:srgbClr val="DEEBF7"/>
                    </a:solidFill>
                  </a:tcPr>
                </a:tc>
              </a:tr>
            </a:tbl>
          </a:graphicData>
        </a:graphic>
      </p:graphicFrame>
      <p:sp>
        <p:nvSpPr>
          <p:cNvPr id="8" name="Retrieval metrics"/>
          <p:cNvSpPr txBox="1"/>
          <p:nvPr/>
        </p:nvSpPr>
        <p:spPr>
          <a:xfrm>
            <a:off x="2240280" y="4617720"/>
            <a:ext cx="2926080" cy="1371600"/>
          </a:xfrm>
          <a:prstGeom prst="rect">
            <a:avLst/>
          </a:prstGeom>
          <a:noFill/>
        </p:spPr>
        <p:txBody>
          <a:bodyPr wrap="square" anchor="t" lIns="36576" rIns="36576" tIns="18288" bIns="18288">
            <a:spAutoFit/>
          </a:bodyPr>
          <a:lstStyle/>
          <a:p>
            <a:pPr algn="l">
              <a:spcAft>
                <a:spcPts val="300"/>
              </a:spcAft>
            </a:pPr>
            <a:r>
              <a:rPr sz="1300" b="1" i="0">
                <a:solidFill>
                  <a:srgbClr val="1F3864"/>
                </a:solidFill>
                <a:latin typeface="Calibri"/>
              </a:rPr>
              <a:t>Retrieval hit@1 100%  ·  MRR 1.00</a:t>
            </a:r>
          </a:p>
          <a:p>
            <a:pPr algn="l">
              <a:spcAft>
                <a:spcPts val="300"/>
              </a:spcAft>
            </a:pPr>
            <a:r>
              <a:rPr sz="1300" b="1" i="0">
                <a:solidFill>
                  <a:srgbClr val="1F3864"/>
                </a:solidFill>
                <a:latin typeface="Calibri"/>
              </a:rPr>
              <a:t>Refusals correct 100%</a:t>
            </a:r>
          </a:p>
          <a:p>
            <a:pPr algn="l">
              <a:spcAft>
                <a:spcPts val="600"/>
              </a:spcAft>
            </a:pPr>
            <a:r>
              <a:rPr sz="1200" b="0" i="0">
                <a:solidFill>
                  <a:srgbClr val="242424"/>
                </a:solidFill>
                <a:latin typeface="Calibri"/>
              </a:rPr>
              <a:t>Risk rules on 10,000 synthetic claims: precision 90.1%, recall 78.3% (injected patterns only)</a:t>
            </a:r>
          </a:p>
        </p:txBody>
      </p:sp>
      <p:pic>
        <p:nvPicPr>
          <p:cNvPr id="9" name="Screenshot - live dashboard" descr="23-dashboard-interactive.png"/>
          <p:cNvPicPr>
            <a:picLocks noChangeAspect="1"/>
          </p:cNvPicPr>
          <p:nvPr/>
        </p:nvPicPr>
        <p:blipFill>
          <a:blip r:embed="rId2"/>
          <a:stretch>
            <a:fillRect/>
          </a:stretch>
        </p:blipFill>
        <p:spPr>
          <a:xfrm>
            <a:off x="5486400" y="1417320"/>
            <a:ext cx="6400800" cy="4026993"/>
          </a:xfrm>
          <a:prstGeom prst="rect">
            <a:avLst/>
          </a:prstGeom>
          <a:ln w="9525">
            <a:solidFill>
              <a:srgbClr val="BFBFBF"/>
            </a:solidFill>
          </a:ln>
        </p:spPr>
      </p:pic>
      <p:sp>
        <p:nvSpPr>
          <p:cNvPr id="10" name="Caption"/>
          <p:cNvSpPr txBox="1"/>
          <p:nvPr/>
        </p:nvSpPr>
        <p:spPr>
          <a:xfrm>
            <a:off x="5486400" y="5517465"/>
            <a:ext cx="6400800" cy="365760"/>
          </a:xfrm>
          <a:prstGeom prst="rect">
            <a:avLst/>
          </a:prstGeom>
          <a:noFill/>
        </p:spPr>
        <p:txBody>
          <a:bodyPr wrap="square" anchor="t" lIns="36576" rIns="36576" tIns="18288" bIns="18288">
            <a:spAutoFit/>
          </a:bodyPr>
          <a:lstStyle/>
          <a:p>
            <a:pPr algn="l">
              <a:spcAft>
                <a:spcPts val="0"/>
              </a:spcAft>
            </a:pPr>
            <a:r>
              <a:rPr sz="1200" b="0" i="1">
                <a:solidFill>
                  <a:srgbClr val="595959"/>
                </a:solidFill>
                <a:latin typeface="Calibri"/>
              </a:rPr>
              <a:t>Claims dashboard: every tile, line and bar opens the matching claims</a:t>
            </a:r>
          </a:p>
        </p:txBody>
      </p:sp>
      <p:sp>
        <p:nvSpPr>
          <p:cNvPr id="11" name="Test summary"/>
          <p:cNvSpPr txBox="1"/>
          <p:nvPr/>
        </p:nvSpPr>
        <p:spPr>
          <a:xfrm>
            <a:off x="5486400" y="5897880"/>
            <a:ext cx="6400800" cy="365760"/>
          </a:xfrm>
          <a:prstGeom prst="rect">
            <a:avLst/>
          </a:prstGeom>
          <a:noFill/>
        </p:spPr>
        <p:txBody>
          <a:bodyPr wrap="square" anchor="t" lIns="36576" rIns="36576" tIns="18288" bIns="18288">
            <a:spAutoFit/>
          </a:bodyPr>
          <a:lstStyle/>
          <a:p>
            <a:pPr algn="l">
              <a:spcAft>
                <a:spcPts val="0"/>
              </a:spcAft>
            </a:pPr>
            <a:r>
              <a:rPr sz="1300" b="1" i="0">
                <a:solidFill>
                  <a:srgbClr val="548235"/>
                </a:solidFill>
                <a:latin typeface="Calibri"/>
              </a:rPr>
              <a:t>158 backend tests  ·  12 browser tests  ·  live site checks passed (30 Oct 2026)</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Conclusion text"/>
          <p:cNvSpPr txBox="1"/>
          <p:nvPr/>
        </p:nvSpPr>
        <p:spPr>
          <a:xfrm>
            <a:off x="320040" y="1371600"/>
            <a:ext cx="6766560" cy="4572000"/>
          </a:xfrm>
          <a:prstGeom prst="rect">
            <a:avLst/>
          </a:prstGeom>
          <a:noFill/>
        </p:spPr>
        <p:txBody>
          <a:bodyPr wrap="square" anchor="t" lIns="36576" rIns="36576" tIns="18288" bIns="18288">
            <a:spAutoFit/>
          </a:bodyPr>
          <a:lstStyle/>
          <a:p>
            <a:pPr algn="l">
              <a:spcAft>
                <a:spcPts val="400"/>
              </a:spcAft>
            </a:pPr>
            <a:r>
              <a:rPr sz="1800" b="1" i="0">
                <a:solidFill>
                  <a:srgbClr val="1F3864"/>
                </a:solidFill>
                <a:latin typeface="Calibri"/>
              </a:rPr>
              <a:t>What was achieved</a:t>
            </a:r>
          </a:p>
          <a:p>
            <a:pPr algn="l" marL="201168" indent="-201168">
              <a:spcAft>
                <a:spcPts val="500"/>
              </a:spcAft>
              <a:buChar char="•"/>
            </a:pPr>
            <a:r>
              <a:rPr sz="1500" b="0" i="0">
                <a:solidFill>
                  <a:srgbClr val="242424"/>
                </a:solidFill>
                <a:latin typeface="Calibri"/>
              </a:rPr>
              <a:t>Project complete: every item in the definition of done is met and verified on the live site.</a:t>
            </a:r>
          </a:p>
          <a:p>
            <a:pPr algn="l" marL="201168" indent="-201168">
              <a:spcAft>
                <a:spcPts val="500"/>
              </a:spcAft>
              <a:buChar char="•"/>
            </a:pPr>
            <a:r>
              <a:rPr sz="1500" b="0" i="0">
                <a:solidFill>
                  <a:srgbClr val="242424"/>
                </a:solidFill>
                <a:latin typeface="Calibri"/>
              </a:rPr>
              <a:t>A working, deployed claims decision-support system for health, motor, home, travel, personal accident and life insurance.</a:t>
            </a:r>
          </a:p>
          <a:p>
            <a:pPr algn="l" marL="201168" indent="-201168">
              <a:spcAft>
                <a:spcPts val="500"/>
              </a:spcAft>
              <a:buChar char="•"/>
            </a:pPr>
            <a:r>
              <a:rPr sz="1500" b="0" i="0">
                <a:solidFill>
                  <a:srgbClr val="242424"/>
                </a:solidFill>
                <a:latin typeface="Calibri"/>
              </a:rPr>
              <a:t>Retrieval-augmented, cited reasoning over versioned policy wordings, with refusal when evidence is weak.</a:t>
            </a:r>
          </a:p>
          <a:p>
            <a:pPr algn="l" marL="201168" indent="-201168">
              <a:spcAft>
                <a:spcPts val="500"/>
              </a:spcAft>
              <a:buChar char="•"/>
            </a:pPr>
            <a:r>
              <a:rPr sz="1500" b="0" i="0">
                <a:solidFill>
                  <a:srgbClr val="242424"/>
                </a:solidFill>
                <a:latin typeface="Calibri"/>
              </a:rPr>
              <a:t>Exact, explainable payable amounts: 986/986 hand-worked checks pass, and every step cites its clause.</a:t>
            </a:r>
          </a:p>
          <a:p>
            <a:pPr algn="l" marL="201168" indent="-201168">
              <a:spcAft>
                <a:spcPts val="500"/>
              </a:spcAft>
              <a:buChar char="•"/>
            </a:pPr>
            <a:r>
              <a:rPr sz="1500" b="0" i="0">
                <a:solidFill>
                  <a:srgbClr val="242424"/>
                </a:solidFill>
                <a:latin typeface="Calibri"/>
              </a:rPr>
              <a:t>People stay in charge: review queues, approval limits, reviewer notes, letters and a complete audit trail.</a:t>
            </a:r>
          </a:p>
          <a:p>
            <a:pPr algn="l">
              <a:spcAft>
                <a:spcPts val="400"/>
              </a:spcAft>
            </a:pPr>
            <a:r>
              <a:rPr sz="1800" b="1" i="0">
                <a:solidFill>
                  <a:srgbClr val="1F3864"/>
                </a:solidFill>
                <a:latin typeface="Calibri"/>
              </a:rPr>
              <a:t>Limitations</a:t>
            </a:r>
          </a:p>
          <a:p>
            <a:pPr algn="l" marL="201168" indent="-201168">
              <a:spcAft>
                <a:spcPts val="500"/>
              </a:spcAft>
              <a:buChar char="•"/>
            </a:pPr>
            <a:r>
              <a:rPr sz="1500" b="0" i="0">
                <a:solidFill>
                  <a:srgbClr val="242424"/>
                </a:solidFill>
                <a:latin typeface="Calibri"/>
              </a:rPr>
              <a:t>Synthetic data only; the LLM narrative is not yet scored; no OCR for scanned images.</a:t>
            </a:r>
          </a:p>
          <a:p>
            <a:pPr algn="l" marL="201168" indent="-201168">
              <a:spcAft>
                <a:spcPts val="500"/>
              </a:spcAft>
              <a:buChar char="•"/>
            </a:pPr>
            <a:r>
              <a:rPr sz="1500" b="0" i="0">
                <a:solidFill>
                  <a:srgbClr val="242424"/>
                </a:solidFill>
                <a:latin typeface="Calibri"/>
              </a:rPr>
              <a:t>The free hosting tier restarts with the 72 seeded claims, so claims filed on the live site are not kept.</a:t>
            </a:r>
          </a:p>
        </p:txBody>
      </p:sp>
      <p:sp>
        <p:nvSpPr>
          <p:cNvPr id="8" name="Future work"/>
          <p:cNvSpPr/>
          <p:nvPr/>
        </p:nvSpPr>
        <p:spPr>
          <a:xfrm>
            <a:off x="7315200" y="1417320"/>
            <a:ext cx="4526280" cy="3749039"/>
          </a:xfrm>
          <a:prstGeom prst="roundRect">
            <a:avLst>
              <a:gd name="adj" fmla="val 12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36576" bIns="36576"/>
          <a:lstStyle/>
          <a:p>
            <a:pPr algn="l">
              <a:spcAft>
                <a:spcPts val="800"/>
              </a:spcAft>
            </a:pPr>
            <a:r>
              <a:rPr sz="1800" b="1" i="0">
                <a:solidFill>
                  <a:srgbClr val="548235"/>
                </a:solidFill>
                <a:latin typeface="Calibri"/>
              </a:rPr>
              <a:t>Future work</a:t>
            </a:r>
          </a:p>
          <a:p>
            <a:pPr algn="l" marL="201168" indent="-201168">
              <a:spcAft>
                <a:spcPts val="600"/>
              </a:spcAft>
              <a:buChar char="•"/>
            </a:pPr>
            <a:r>
              <a:rPr sz="1400" b="0" i="0">
                <a:solidFill>
                  <a:srgbClr val="242424"/>
                </a:solidFill>
                <a:latin typeface="Calibri"/>
              </a:rPr>
              <a:t>Ingest real IRDAI circulars after a licence review</a:t>
            </a:r>
          </a:p>
          <a:p>
            <a:pPr algn="l" marL="201168" indent="-201168">
              <a:spcAft>
                <a:spcPts val="600"/>
              </a:spcAft>
              <a:buChar char="•"/>
            </a:pPr>
            <a:r>
              <a:rPr sz="1400" b="0" i="0">
                <a:solidFill>
                  <a:srgbClr val="242424"/>
                </a:solidFill>
                <a:latin typeface="Calibri"/>
              </a:rPr>
              <a:t>Embedding retriever alongside BM25</a:t>
            </a:r>
          </a:p>
          <a:p>
            <a:pPr algn="l" marL="201168" indent="-201168">
              <a:spcAft>
                <a:spcPts val="600"/>
              </a:spcAft>
              <a:buChar char="•"/>
            </a:pPr>
            <a:r>
              <a:rPr sz="1400" b="0" i="0">
                <a:solidFill>
                  <a:srgbClr val="242424"/>
                </a:solidFill>
                <a:latin typeface="Calibri"/>
              </a:rPr>
              <a:t>OCR for scanned claim documents</a:t>
            </a:r>
          </a:p>
          <a:p>
            <a:pPr algn="l" marL="201168" indent="-201168">
              <a:spcAft>
                <a:spcPts val="600"/>
              </a:spcAft>
              <a:buChar char="•"/>
            </a:pPr>
            <a:r>
              <a:rPr sz="1400" b="0" i="0">
                <a:solidFill>
                  <a:srgbClr val="242424"/>
                </a:solidFill>
                <a:latin typeface="Calibri"/>
              </a:rPr>
              <a:t>Score LLM-written explanations sentence by sentence against cited clauses</a:t>
            </a:r>
          </a:p>
          <a:p>
            <a:pPr algn="l" marL="201168" indent="-201168">
              <a:spcAft>
                <a:spcPts val="600"/>
              </a:spcAft>
              <a:buChar char="•"/>
            </a:pPr>
            <a:r>
              <a:rPr sz="1400" b="0" i="0">
                <a:solidFill>
                  <a:srgbClr val="242424"/>
                </a:solidFill>
                <a:latin typeface="Calibri"/>
              </a:rPr>
              <a:t>Azure Container Apps deployment, single sign-on and an ML fraud model</a:t>
            </a:r>
          </a:p>
          <a:p>
            <a:pPr algn="l" marL="201168" indent="-201168">
              <a:spcAft>
                <a:spcPts val="600"/>
              </a:spcAft>
              <a:buChar char="•"/>
            </a:pPr>
            <a:r>
              <a:rPr sz="1400" b="0" i="0">
                <a:solidFill>
                  <a:srgbClr val="242424"/>
                </a:solidFill>
                <a:latin typeface="Calibri"/>
              </a:rPr>
              <a:t>Persistent database on a paid hosting tier</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Acknowledgement text"/>
          <p:cNvSpPr txBox="1"/>
          <p:nvPr/>
        </p:nvSpPr>
        <p:spPr>
          <a:xfrm>
            <a:off x="2194560" y="1828800"/>
            <a:ext cx="7772400" cy="3474720"/>
          </a:xfrm>
          <a:prstGeom prst="rect">
            <a:avLst/>
          </a:prstGeom>
          <a:noFill/>
        </p:spPr>
        <p:txBody>
          <a:bodyPr wrap="square" anchor="t" lIns="36576" rIns="36576" tIns="18288" bIns="18288">
            <a:spAutoFit/>
          </a:bodyPr>
          <a:lstStyle/>
          <a:p>
            <a:pPr algn="l">
              <a:spcAft>
                <a:spcPts val="1400"/>
              </a:spcAft>
            </a:pPr>
            <a:r>
              <a:rPr sz="2000" b="0" i="0">
                <a:solidFill>
                  <a:srgbClr val="242424"/>
                </a:solidFill>
                <a:latin typeface="Calibri"/>
              </a:rPr>
              <a:t>I sincerely thank the University and LTIMindtree for the M.Tech Advanced Industry Integrated Program, and L&amp;T EduTech for its support as implementation partner.</a:t>
            </a:r>
          </a:p>
          <a:p>
            <a:pPr algn="l">
              <a:spcAft>
                <a:spcPts val="2400"/>
              </a:spcAft>
            </a:pPr>
            <a:r>
              <a:rPr sz="2000" b="0" i="0">
                <a:solidFill>
                  <a:srgbClr val="242424"/>
                </a:solidFill>
                <a:latin typeface="Calibri"/>
              </a:rPr>
              <a:t>I am grateful to my project guide and mentors for their guidance, reviews and encouragement throughout this project, and to my family and friends for their constant support.</a:t>
            </a:r>
          </a:p>
          <a:p>
            <a:pPr algn="l">
              <a:spcAft>
                <a:spcPts val="0"/>
              </a:spcAft>
            </a:pPr>
            <a:r>
              <a:rPr sz="1800" b="1" i="0">
                <a:solidFill>
                  <a:srgbClr val="1F3864"/>
                </a:solidFill>
                <a:latin typeface="Calibri"/>
              </a:rPr>
              <a:t>S.K. Sricharan  ·  T-SERIES ID: T9984</a:t>
            </a: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3108960" y="57036"/>
            <a:ext cx="9006840" cy="646331"/>
          </a:xfrm>
          <a:prstGeom prst="rect">
            <a:avLst/>
          </a:prstGeom>
          <a:noFill/>
        </p:spPr>
        <p:txBody>
          <a:bodyPr wrap="square" rtlCol="0">
            <a:spAutoFit/>
          </a:bodyPr>
          <a:lstStyle/>
          <a:p>
            <a:pPr algn="r"/>
            <a:r>
              <a:rPr lang="en-US" sz="1600" b="1" i="1" dirty="0">
                <a:solidFill>
                  <a:srgbClr val="FFFFFF"/>
                </a:solidFill>
              </a:rPr>
              <a:t>Claim Sense: RAG-Based Insurance Claims Adjudication &amp; Policy Knowledge Assistant</a:t>
            </a:r>
          </a:p>
        </p:txBody>
      </p:sp>
      <p:sp>
        <p:nvSpPr>
          <p:cNvPr id="7" name="Reference list"/>
          <p:cNvSpPr txBox="1"/>
          <p:nvPr/>
        </p:nvSpPr>
        <p:spPr>
          <a:xfrm>
            <a:off x="320040" y="1371600"/>
            <a:ext cx="11521440" cy="3840480"/>
          </a:xfrm>
          <a:prstGeom prst="rect">
            <a:avLst/>
          </a:prstGeom>
          <a:noFill/>
        </p:spPr>
        <p:txBody>
          <a:bodyPr wrap="square" anchor="t" lIns="36576" rIns="36576" tIns="18288" bIns="18288">
            <a:spAutoFit/>
          </a:bodyPr>
          <a:lstStyle/>
          <a:p>
            <a:pPr algn="l">
              <a:spcAft>
                <a:spcPts val="800"/>
              </a:spcAft>
            </a:pPr>
            <a:r>
              <a:rPr sz="1400" b="0" i="0">
                <a:solidFill>
                  <a:srgbClr val="242424"/>
                </a:solidFill>
                <a:latin typeface="Calibri"/>
              </a:rPr>
              <a:t>[1]  P. Lewis et al., "Retrieval-Augmented Generation for Knowledge-Intensive NLP Tasks," Advances in Neural Information Processing Systems (NeurIPS), 2020.</a:t>
            </a:r>
          </a:p>
          <a:p>
            <a:pPr algn="l">
              <a:spcAft>
                <a:spcPts val="800"/>
              </a:spcAft>
            </a:pPr>
            <a:r>
              <a:rPr sz="1400" b="0" i="0">
                <a:solidFill>
                  <a:srgbClr val="242424"/>
                </a:solidFill>
                <a:latin typeface="Calibri"/>
              </a:rPr>
              <a:t>[2]  S. Robertson and H. Zaragoza, "The Probabilistic Relevance Framework: BM25 and Beyond," Foundations and Trends in Information Retrieval, vol. 3, no. 4, 2009.</a:t>
            </a:r>
          </a:p>
          <a:p>
            <a:pPr algn="l">
              <a:spcAft>
                <a:spcPts val="800"/>
              </a:spcAft>
            </a:pPr>
            <a:r>
              <a:rPr sz="1400" b="0" i="0">
                <a:solidFill>
                  <a:srgbClr val="242424"/>
                </a:solidFill>
                <a:latin typeface="Calibri"/>
              </a:rPr>
              <a:t>[3]  G. V. Cormack, C. L. A. Clarke and S. Buettcher, "Reciprocal Rank Fusion Outperforms Condorcet and Individual Rank Learning Methods," Proc. ACM SIGIR, 2009.</a:t>
            </a:r>
          </a:p>
          <a:p>
            <a:pPr algn="l">
              <a:spcAft>
                <a:spcPts val="800"/>
              </a:spcAft>
            </a:pPr>
            <a:r>
              <a:rPr sz="1400" b="0" i="0">
                <a:solidFill>
                  <a:srgbClr val="242424"/>
                </a:solidFill>
                <a:latin typeface="Calibri"/>
              </a:rPr>
              <a:t>[4]  Insurance Regulatory and Development Authority of India (IRDAI), Master Circulars on Health Insurance Business and on Protection of Policyholders' Interests, 2024. https://irdai.gov.in</a:t>
            </a:r>
          </a:p>
          <a:p>
            <a:pPr algn="l">
              <a:spcAft>
                <a:spcPts val="800"/>
              </a:spcAft>
            </a:pPr>
            <a:r>
              <a:rPr sz="1400" b="0" i="0">
                <a:solidFill>
                  <a:srgbClr val="242424"/>
                </a:solidFill>
                <a:latin typeface="Calibri"/>
              </a:rPr>
              <a:t>[5]  Casualty Actuarial Society, Loss Reserving Data Pulled From NAIC Schedule P (accident years 1998-2007), compiled for the CAS by S&amp;P Global Market Intelligence. https://www.casact.org</a:t>
            </a:r>
          </a:p>
          <a:p>
            <a:pPr algn="l">
              <a:spcAft>
                <a:spcPts val="800"/>
              </a:spcAft>
            </a:pPr>
            <a:r>
              <a:rPr sz="1400" b="0" i="0">
                <a:solidFill>
                  <a:srgbClr val="242424"/>
                </a:solidFill>
                <a:latin typeface="Calibri"/>
              </a:rPr>
              <a:t>[6]  FastAPI documentation, https://fastapi.tiangolo.com  ·  React documentation, https://react.dev  ·  SQLAlchemy documentation, https://www.sqlalchemy.org</a:t>
            </a:r>
          </a:p>
          <a:p>
            <a:pPr algn="l">
              <a:spcAft>
                <a:spcPts val="800"/>
              </a:spcAft>
            </a:pPr>
            <a:r>
              <a:rPr sz="1400" b="0" i="0">
                <a:solidFill>
                  <a:srgbClr val="242424"/>
                </a:solidFill>
                <a:latin typeface="Calibri"/>
              </a:rPr>
              <a:t>[7]  Project source code: https://github.com/sricharansk/CLAIM-SENSE  ·  Live application: https://claim-sense.onrender.com</a:t>
            </a:r>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TotalTime>
  <Words>205</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(Body)</vt:lpstr>
      <vt:lpstr>Calibri Light</vt:lpstr>
      <vt:lpstr>Frutiger 45 bold</vt:lpstr>
      <vt:lpstr>Frutiger LT Pro 45 Light</vt:lpstr>
      <vt:lpstr>source-serif-pro</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HARI PRASATH</cp:lastModifiedBy>
  <cp:revision>14</cp:revision>
  <dcterms:created xsi:type="dcterms:W3CDTF">2024-05-13T10:33:11Z</dcterms:created>
  <dcterms:modified xsi:type="dcterms:W3CDTF">2025-10-06T09:41:15Z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